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10.svg"/><Relationship Id="rId7" Type="http://schemas.openxmlformats.org/officeDocument/2006/relationships/image" Target="../media/image13.svg"/><Relationship Id="rId12" Type="http://schemas.openxmlformats.org/officeDocument/2006/relationships/image" Target="../media/image18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svg"/><Relationship Id="rId11" Type="http://schemas.openxmlformats.org/officeDocument/2006/relationships/image" Target="../media/image17.svg"/><Relationship Id="rId5" Type="http://schemas.openxmlformats.org/officeDocument/2006/relationships/image" Target="../media/image11.svg"/><Relationship Id="rId10" Type="http://schemas.openxmlformats.org/officeDocument/2006/relationships/image" Target="../media/image16.svg"/><Relationship Id="rId4" Type="http://schemas.openxmlformats.org/officeDocument/2006/relationships/image" Target="../media/image7.svg"/><Relationship Id="rId9" Type="http://schemas.openxmlformats.org/officeDocument/2006/relationships/image" Target="../media/image1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svg"/><Relationship Id="rId7" Type="http://schemas.openxmlformats.org/officeDocument/2006/relationships/image" Target="../media/image24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svg"/><Relationship Id="rId5" Type="http://schemas.openxmlformats.org/officeDocument/2006/relationships/image" Target="../media/image22.svg"/><Relationship Id="rId4" Type="http://schemas.openxmlformats.org/officeDocument/2006/relationships/image" Target="../media/image21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7" Type="http://schemas.openxmlformats.org/officeDocument/2006/relationships/image" Target="../media/image29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svg"/><Relationship Id="rId5" Type="http://schemas.openxmlformats.org/officeDocument/2006/relationships/image" Target="../media/image27.svg"/><Relationship Id="rId4" Type="http://schemas.openxmlformats.org/officeDocument/2006/relationships/image" Target="../media/image26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3" Type="http://schemas.openxmlformats.org/officeDocument/2006/relationships/image" Target="../media/image31.svg"/><Relationship Id="rId7" Type="http://schemas.openxmlformats.org/officeDocument/2006/relationships/image" Target="../media/image35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svg"/><Relationship Id="rId5" Type="http://schemas.openxmlformats.org/officeDocument/2006/relationships/image" Target="../media/image33.svg"/><Relationship Id="rId4" Type="http://schemas.openxmlformats.org/officeDocument/2006/relationships/image" Target="../media/image3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ángulo 19">
            <a:extLst>
              <a:ext uri="{FF2B5EF4-FFF2-40B4-BE49-F238E27FC236}">
                <a16:creationId xmlns:a16="http://schemas.microsoft.com/office/drawing/2014/main" id="{5AF24641-1056-4DBC-A416-DB8E898A6644}"/>
              </a:ext>
            </a:extLst>
          </p:cNvPr>
          <p:cNvSpPr>
            <a:spLocks noGrp="1"/>
          </p:cNvSpPr>
          <p:nvPr/>
        </p:nvSpPr>
        <p:spPr>
          <a:xfrm>
            <a:off x="0" y="287079"/>
            <a:ext cx="12192000" cy="6858000"/>
          </a:xfrm>
          <a:prstGeom prst="rect">
            <a:avLst/>
          </a:prstGeom>
          <a:solidFill>
            <a:srgbClr val="F8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3EF75378-F19A-437E-8FA6-DDE2A10329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3B71C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54C14AD-E949-4FF2-A48F-0CF7B2FCCA03}"/>
              </a:ext>
            </a:extLst>
          </p:cNvPr>
          <p:cNvSpPr>
            <a:spLocks noGrp="1"/>
          </p:cNvSpPr>
          <p:nvPr/>
        </p:nvSpPr>
        <p:spPr>
          <a:xfrm>
            <a:off x="304800" y="666750"/>
            <a:ext cx="6858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4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Aprender a Controlar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C5C67C39-49CB-45A3-8F4D-3155DC581F87}"/>
              </a:ext>
            </a:extLst>
          </p:cNvPr>
          <p:cNvSpPr>
            <a:spLocks noGrp="1"/>
          </p:cNvSpPr>
          <p:nvPr/>
        </p:nvSpPr>
        <p:spPr>
          <a:xfrm>
            <a:off x="304800" y="1295400"/>
            <a:ext cx="6858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App de entrenamiento y herramientas operacionales</a:t>
            </a:r>
          </a:p>
          <a:p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para control de sondajes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32C81E9-52C1-4BDC-8135-B35A9D8BC046}"/>
              </a:ext>
            </a:extLst>
          </p:cNvPr>
          <p:cNvSpPr>
            <a:spLocks noGrp="1"/>
          </p:cNvSpPr>
          <p:nvPr/>
        </p:nvSpPr>
        <p:spPr>
          <a:xfrm>
            <a:off x="304800" y="1809750"/>
            <a:ext cx="16002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CF0"/>
            </a:solidFill>
            <a:prstDash val="solid"/>
          </a:ln>
        </p:spPr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3A113825-DAE9-4AC1-870A-7ED1384F95E7}"/>
              </a:ext>
            </a:extLst>
          </p:cNvPr>
          <p:cNvSpPr>
            <a:spLocks noGrp="1"/>
          </p:cNvSpPr>
          <p:nvPr/>
        </p:nvSpPr>
        <p:spPr>
          <a:xfrm>
            <a:off x="419100" y="1876425"/>
            <a:ext cx="1371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iOS + Android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EC9C3F7-19A4-4E32-A749-61C428C0ED5F}"/>
              </a:ext>
            </a:extLst>
          </p:cNvPr>
          <p:cNvSpPr>
            <a:spLocks noGrp="1"/>
          </p:cNvSpPr>
          <p:nvPr/>
        </p:nvSpPr>
        <p:spPr>
          <a:xfrm>
            <a:off x="1981200" y="1809750"/>
            <a:ext cx="16002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CF0"/>
            </a:solidFill>
            <a:prstDash val="solid"/>
          </a:ln>
        </p:spPr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7BCDD4BD-D1CC-4AB5-B748-557F5CC62AE4}"/>
              </a:ext>
            </a:extLst>
          </p:cNvPr>
          <p:cNvSpPr>
            <a:spLocks noGrp="1"/>
          </p:cNvSpPr>
          <p:nvPr/>
        </p:nvSpPr>
        <p:spPr>
          <a:xfrm>
            <a:off x="2095500" y="1876425"/>
            <a:ext cx="1371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Offline first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A8ED67DD-AB79-4A71-8B8A-4BB14D259475}"/>
              </a:ext>
            </a:extLst>
          </p:cNvPr>
          <p:cNvSpPr>
            <a:spLocks noGrp="1"/>
          </p:cNvSpPr>
          <p:nvPr/>
        </p:nvSpPr>
        <p:spPr>
          <a:xfrm>
            <a:off x="3657600" y="1809750"/>
            <a:ext cx="16002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CF0"/>
            </a:solidFill>
            <a:prstDash val="solid"/>
          </a:ln>
        </p:spPr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38B2B8F-1F00-4740-B212-E7915C500188}"/>
              </a:ext>
            </a:extLst>
          </p:cNvPr>
          <p:cNvSpPr>
            <a:spLocks noGrp="1"/>
          </p:cNvSpPr>
          <p:nvPr/>
        </p:nvSpPr>
        <p:spPr>
          <a:xfrm>
            <a:off x="3771900" y="1876425"/>
            <a:ext cx="1371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Uso en terreno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8D540D27-55E6-4A3E-AF85-8BE917CD7E6C}"/>
              </a:ext>
            </a:extLst>
          </p:cNvPr>
          <p:cNvSpPr>
            <a:spLocks noGrp="1"/>
          </p:cNvSpPr>
          <p:nvPr/>
        </p:nvSpPr>
        <p:spPr>
          <a:xfrm>
            <a:off x="7810500" y="552450"/>
            <a:ext cx="3810000" cy="57531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CF0"/>
            </a:solidFill>
            <a:prstDash val="solid"/>
          </a:ln>
        </p:spPr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17B7E311-EDAF-43C4-AEF3-BBA6D85C2BB5}"/>
              </a:ext>
            </a:extLst>
          </p:cNvPr>
          <p:cNvSpPr>
            <a:spLocks noGrp="1"/>
          </p:cNvSpPr>
          <p:nvPr/>
        </p:nvSpPr>
        <p:spPr>
          <a:xfrm>
            <a:off x="8001000" y="742950"/>
            <a:ext cx="3429000" cy="495300"/>
          </a:xfrm>
          <a:prstGeom prst="rect">
            <a:avLst/>
          </a:prstGeom>
          <a:solidFill>
            <a:srgbClr val="EFF6FF"/>
          </a:solidFill>
          <a:ln w="9525">
            <a:solidFill>
              <a:srgbClr val="E2ECF0"/>
            </a:solidFill>
            <a:prstDash val="solid"/>
          </a:ln>
        </p:spPr>
      </p:sp>
      <p:pic>
        <p:nvPicPr>
          <p:cNvPr id="13" name="Imagen 1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115300" y="838200"/>
            <a:ext cx="304800" cy="304800"/>
          </a:xfrm>
          <a:prstGeom prst="rect">
            <a:avLst/>
          </a:prstGeom>
        </p:spPr>
      </p:pic>
      <p:sp>
        <p:nvSpPr>
          <p:cNvPr id="14" name="Rectángulo 13">
            <a:extLst>
              <a:ext uri="{FF2B5EF4-FFF2-40B4-BE49-F238E27FC236}">
                <a16:creationId xmlns:a16="http://schemas.microsoft.com/office/drawing/2014/main" id="{6098CA9C-00E9-4A5C-89B9-10AD9BA0DD31}"/>
              </a:ext>
            </a:extLst>
          </p:cNvPr>
          <p:cNvSpPr>
            <a:spLocks noGrp="1"/>
          </p:cNvSpPr>
          <p:nvPr/>
        </p:nvSpPr>
        <p:spPr>
          <a:xfrm>
            <a:off x="8496300" y="876300"/>
            <a:ext cx="2762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Demo para jefatura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F93010A3-515A-4316-A63B-0599AA950E4C}"/>
              </a:ext>
            </a:extLst>
          </p:cNvPr>
          <p:cNvSpPr>
            <a:spLocks noGrp="1"/>
          </p:cNvSpPr>
          <p:nvPr/>
        </p:nvSpPr>
        <p:spPr>
          <a:xfrm>
            <a:off x="190500" y="6438900"/>
            <a:ext cx="11811000" cy="9525"/>
          </a:xfrm>
          <a:prstGeom prst="rect">
            <a:avLst/>
          </a:prstGeom>
          <a:solidFill>
            <a:srgbClr val="E2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D73BD9C6-CDB8-4399-ADD1-5A075FE06F69}"/>
              </a:ext>
            </a:extLst>
          </p:cNvPr>
          <p:cNvSpPr>
            <a:spLocks noGrp="1"/>
          </p:cNvSpPr>
          <p:nvPr/>
        </p:nvSpPr>
        <p:spPr>
          <a:xfrm>
            <a:off x="304800" y="6515100"/>
            <a:ext cx="495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Aprender a Controlar • Sondajes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953B324B-332D-41AB-A34B-FE29A7BDE8C5}"/>
              </a:ext>
            </a:extLst>
          </p:cNvPr>
          <p:cNvSpPr>
            <a:spLocks noGrp="1"/>
          </p:cNvSpPr>
          <p:nvPr/>
        </p:nvSpPr>
        <p:spPr>
          <a:xfrm>
            <a:off x="9144000" y="6515100"/>
            <a:ext cx="2743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63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Estado: versión interna</a:t>
            </a:r>
          </a:p>
        </p:txBody>
      </p:sp>
    </p:spTree>
    <p:extLst>
      <p:ext uri="{BB962C8B-B14F-4D97-AF65-F5344CB8AC3E}">
        <p14:creationId xmlns:p14="http://schemas.microsoft.com/office/powerpoint/2010/main" val="19394168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ángulo 34">
            <a:extLst>
              <a:ext uri="{FF2B5EF4-FFF2-40B4-BE49-F238E27FC236}">
                <a16:creationId xmlns:a16="http://schemas.microsoft.com/office/drawing/2014/main" id="{C722646D-4C0E-4A68-9BD5-E4E1FCC57E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076167A-DBF7-4F7B-BE77-CAB8D8E6F72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3B71C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3D1607C-9270-4FE6-B5BD-FB37E3EA4536}"/>
              </a:ext>
            </a:extLst>
          </p:cNvPr>
          <p:cNvSpPr>
            <a:spLocks noGrp="1"/>
          </p:cNvSpPr>
          <p:nvPr/>
        </p:nvSpPr>
        <p:spPr>
          <a:xfrm>
            <a:off x="304800" y="228600"/>
            <a:ext cx="115824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Objetivo y Alcance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C34D72F6-439C-479E-A4FD-7BF572900440}"/>
              </a:ext>
            </a:extLst>
          </p:cNvPr>
          <p:cNvSpPr>
            <a:spLocks noGrp="1"/>
          </p:cNvSpPr>
          <p:nvPr/>
        </p:nvSpPr>
        <p:spPr>
          <a:xfrm>
            <a:off x="304800" y="666750"/>
            <a:ext cx="11582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Estandarizar el control operacional, reforzar criterios, y reducir errores en terreno.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4E2504A-C259-45AD-A0C9-8DF6680710A3}"/>
              </a:ext>
            </a:extLst>
          </p:cNvPr>
          <p:cNvSpPr>
            <a:spLocks noGrp="1"/>
          </p:cNvSpPr>
          <p:nvPr/>
        </p:nvSpPr>
        <p:spPr>
          <a:xfrm>
            <a:off x="304800" y="1238250"/>
            <a:ext cx="5619750" cy="18097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CF0"/>
            </a:solidFill>
            <a:prstDash val="solid"/>
          </a:ln>
        </p:spPr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630FEF48-FFAE-49E8-B10E-18045FA31C88}"/>
              </a:ext>
            </a:extLst>
          </p:cNvPr>
          <p:cNvSpPr>
            <a:spLocks noGrp="1"/>
          </p:cNvSpPr>
          <p:nvPr/>
        </p:nvSpPr>
        <p:spPr>
          <a:xfrm>
            <a:off x="476250" y="1409700"/>
            <a:ext cx="342900" cy="342900"/>
          </a:xfrm>
          <a:prstGeom prst="rect">
            <a:avLst/>
          </a:prstGeom>
          <a:solidFill>
            <a:srgbClr val="EFF6FF"/>
          </a:solidFill>
          <a:ln w="9525">
            <a:solidFill>
              <a:srgbClr val="E2ECF0"/>
            </a:solidFill>
            <a:prstDash val="solid"/>
          </a:ln>
        </p:spPr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4732F69-CD13-42C7-8920-ABA19AE39EB2}"/>
              </a:ext>
            </a:extLst>
          </p:cNvPr>
          <p:cNvSpPr>
            <a:spLocks noGrp="1"/>
          </p:cNvSpPr>
          <p:nvPr/>
        </p:nvSpPr>
        <p:spPr>
          <a:xfrm>
            <a:off x="914400" y="1409700"/>
            <a:ext cx="4838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Objetivo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67FCE9FA-F98E-47BE-BEFA-D2A155D0F641}"/>
              </a:ext>
            </a:extLst>
          </p:cNvPr>
          <p:cNvSpPr>
            <a:spLocks noGrp="1"/>
          </p:cNvSpPr>
          <p:nvPr/>
        </p:nvSpPr>
        <p:spPr>
          <a:xfrm>
            <a:off x="914400" y="1676400"/>
            <a:ext cx="483870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Entregar una guia paso a paso y herramientas de calculo para control de sondajes.</a:t>
            </a:r>
          </a:p>
          <a:p>
            <a:pPr algn="l">
              <a:defRPr sz="96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Enfocado en uso rapido, sin señal, y con apoyo visual.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2DE763A7-CBA7-4499-B233-1E72AE881787}"/>
              </a:ext>
            </a:extLst>
          </p:cNvPr>
          <p:cNvSpPr>
            <a:spLocks noGrp="1"/>
          </p:cNvSpPr>
          <p:nvPr/>
        </p:nvSpPr>
        <p:spPr>
          <a:xfrm>
            <a:off x="6267450" y="1238250"/>
            <a:ext cx="5619750" cy="18097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CF0"/>
            </a:solidFill>
            <a:prstDash val="solid"/>
          </a:ln>
        </p:spPr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1F9F89CC-C81C-4D88-A73C-DEB86A7DE93F}"/>
              </a:ext>
            </a:extLst>
          </p:cNvPr>
          <p:cNvSpPr>
            <a:spLocks noGrp="1"/>
          </p:cNvSpPr>
          <p:nvPr/>
        </p:nvSpPr>
        <p:spPr>
          <a:xfrm>
            <a:off x="6438900" y="1409700"/>
            <a:ext cx="342900" cy="342900"/>
          </a:xfrm>
          <a:prstGeom prst="rect">
            <a:avLst/>
          </a:prstGeom>
          <a:solidFill>
            <a:srgbClr val="EFF6FF"/>
          </a:solidFill>
          <a:ln w="9525">
            <a:solidFill>
              <a:srgbClr val="E2ECF0"/>
            </a:solidFill>
            <a:prstDash val="solid"/>
          </a:ln>
        </p:spPr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C8E697B1-8FF3-4A88-86F7-DAA84488695F}"/>
              </a:ext>
            </a:extLst>
          </p:cNvPr>
          <p:cNvSpPr>
            <a:spLocks noGrp="1"/>
          </p:cNvSpPr>
          <p:nvPr/>
        </p:nvSpPr>
        <p:spPr>
          <a:xfrm>
            <a:off x="6877050" y="1409700"/>
            <a:ext cx="4838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Usuarios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BCCBCD9-0F03-47FE-971D-1BBE3BA1117A}"/>
              </a:ext>
            </a:extLst>
          </p:cNvPr>
          <p:cNvSpPr>
            <a:spLocks noGrp="1"/>
          </p:cNvSpPr>
          <p:nvPr/>
        </p:nvSpPr>
        <p:spPr>
          <a:xfrm>
            <a:off x="6877050" y="1676400"/>
            <a:ext cx="483870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Controladores(as) de sondajes y personal operativo.</a:t>
            </a:r>
          </a:p>
          <a:p>
            <a:pPr algn="l">
              <a:defRPr sz="96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Supervision: seguimiento de criterios y refuerzo de estandar.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003FEF43-7FA2-4083-9B28-12B96F55545C}"/>
              </a:ext>
            </a:extLst>
          </p:cNvPr>
          <p:cNvSpPr>
            <a:spLocks noGrp="1"/>
          </p:cNvSpPr>
          <p:nvPr/>
        </p:nvSpPr>
        <p:spPr>
          <a:xfrm>
            <a:off x="304800" y="3333750"/>
            <a:ext cx="115824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Que mejora en terreno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98D137E5-B97D-43A1-84D7-EFED89963E43}"/>
              </a:ext>
            </a:extLst>
          </p:cNvPr>
          <p:cNvSpPr>
            <a:spLocks noGrp="1"/>
          </p:cNvSpPr>
          <p:nvPr/>
        </p:nvSpPr>
        <p:spPr>
          <a:xfrm>
            <a:off x="304800" y="3733800"/>
            <a:ext cx="57912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CF0"/>
            </a:solidFill>
            <a:prstDash val="solid"/>
          </a:ln>
        </p:spPr>
      </p:sp>
      <p:pic>
        <p:nvPicPr>
          <p:cNvPr id="15" name="Gráfico 1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533400" y="1466850"/>
            <a:ext cx="228600" cy="228600"/>
          </a:xfrm>
          <a:prstGeom prst="rect">
            <a:avLst/>
          </a:prstGeom>
        </p:spPr>
      </p:pic>
      <p:pic>
        <p:nvPicPr>
          <p:cNvPr id="16" name="Gráfico 1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6496050" y="1466850"/>
            <a:ext cx="228600" cy="228600"/>
          </a:xfrm>
          <a:prstGeom prst="rect">
            <a:avLst/>
          </a:prstGeom>
        </p:spPr>
      </p:pic>
      <p:pic>
        <p:nvPicPr>
          <p:cNvPr id="17" name="Gráfico 1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476250" y="3924300"/>
            <a:ext cx="228600" cy="228600"/>
          </a:xfrm>
          <a:prstGeom prst="rect">
            <a:avLst/>
          </a:prstGeom>
        </p:spPr>
      </p:pic>
      <p:sp>
        <p:nvSpPr>
          <p:cNvPr id="18" name="Rectángulo 17">
            <a:extLst>
              <a:ext uri="{FF2B5EF4-FFF2-40B4-BE49-F238E27FC236}">
                <a16:creationId xmlns:a16="http://schemas.microsoft.com/office/drawing/2014/main" id="{7286BA8D-71A4-433B-B46E-CE1172CB439F}"/>
              </a:ext>
            </a:extLst>
          </p:cNvPr>
          <p:cNvSpPr>
            <a:spLocks noGrp="1"/>
          </p:cNvSpPr>
          <p:nvPr/>
        </p:nvSpPr>
        <p:spPr>
          <a:xfrm>
            <a:off x="819150" y="3886200"/>
            <a:ext cx="5124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Consistencia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4112EF22-A527-44EE-A782-09E164A60EFF}"/>
              </a:ext>
            </a:extLst>
          </p:cNvPr>
          <p:cNvSpPr>
            <a:spLocks noGrp="1"/>
          </p:cNvSpPr>
          <p:nvPr/>
        </p:nvSpPr>
        <p:spPr>
          <a:xfrm>
            <a:off x="819150" y="4152900"/>
            <a:ext cx="51244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Mismos criterios y formulas en todo turno/equipo.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0454AAF4-F62B-467B-91B9-86413C4644E9}"/>
              </a:ext>
            </a:extLst>
          </p:cNvPr>
          <p:cNvSpPr>
            <a:spLocks noGrp="1"/>
          </p:cNvSpPr>
          <p:nvPr/>
        </p:nvSpPr>
        <p:spPr>
          <a:xfrm>
            <a:off x="6248400" y="3733800"/>
            <a:ext cx="57912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CF0"/>
            </a:solidFill>
            <a:prstDash val="solid"/>
          </a:ln>
        </p:spPr>
      </p:sp>
      <p:pic>
        <p:nvPicPr>
          <p:cNvPr id="21" name="Gráfico 2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6419850" y="3924300"/>
            <a:ext cx="228600" cy="228600"/>
          </a:xfrm>
          <a:prstGeom prst="rect">
            <a:avLst/>
          </a:prstGeom>
        </p:spPr>
      </p:pic>
      <p:sp>
        <p:nvSpPr>
          <p:cNvPr id="22" name="Rectángulo 21">
            <a:extLst>
              <a:ext uri="{FF2B5EF4-FFF2-40B4-BE49-F238E27FC236}">
                <a16:creationId xmlns:a16="http://schemas.microsoft.com/office/drawing/2014/main" id="{76E33DB9-D60D-4ACA-8491-37984B870FB8}"/>
              </a:ext>
            </a:extLst>
          </p:cNvPr>
          <p:cNvSpPr>
            <a:spLocks noGrp="1"/>
          </p:cNvSpPr>
          <p:nvPr/>
        </p:nvSpPr>
        <p:spPr>
          <a:xfrm>
            <a:off x="6762750" y="3886200"/>
            <a:ext cx="5124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Rapidez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482EADAB-F968-4309-9CE4-1CFC9BAA1363}"/>
              </a:ext>
            </a:extLst>
          </p:cNvPr>
          <p:cNvSpPr>
            <a:spLocks noGrp="1"/>
          </p:cNvSpPr>
          <p:nvPr/>
        </p:nvSpPr>
        <p:spPr>
          <a:xfrm>
            <a:off x="6762750" y="4152900"/>
            <a:ext cx="51244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Calculadoras y ejercicios con retroalimentacion inmediata.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605B07E4-F058-4D59-8682-270EB512640E}"/>
              </a:ext>
            </a:extLst>
          </p:cNvPr>
          <p:cNvSpPr>
            <a:spLocks noGrp="1"/>
          </p:cNvSpPr>
          <p:nvPr/>
        </p:nvSpPr>
        <p:spPr>
          <a:xfrm>
            <a:off x="304800" y="5010150"/>
            <a:ext cx="57912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CF0"/>
            </a:solidFill>
            <a:prstDash val="solid"/>
          </a:ln>
        </p:spPr>
      </p:sp>
      <p:pic>
        <p:nvPicPr>
          <p:cNvPr id="25" name="Gráfico 2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476250" y="5200650"/>
            <a:ext cx="228600" cy="228600"/>
          </a:xfrm>
          <a:prstGeom prst="rect">
            <a:avLst/>
          </a:prstGeom>
        </p:spPr>
      </p:pic>
      <p:sp>
        <p:nvSpPr>
          <p:cNvPr id="26" name="Rectángulo 25">
            <a:extLst>
              <a:ext uri="{FF2B5EF4-FFF2-40B4-BE49-F238E27FC236}">
                <a16:creationId xmlns:a16="http://schemas.microsoft.com/office/drawing/2014/main" id="{7D45B619-BD2A-4A16-9594-8CC54FC05F2A}"/>
              </a:ext>
            </a:extLst>
          </p:cNvPr>
          <p:cNvSpPr>
            <a:spLocks noGrp="1"/>
          </p:cNvSpPr>
          <p:nvPr/>
        </p:nvSpPr>
        <p:spPr>
          <a:xfrm>
            <a:off x="819150" y="5162550"/>
            <a:ext cx="5124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Trazabilidad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0BA5D127-68A6-4A26-9B8A-1EEB155AC237}"/>
              </a:ext>
            </a:extLst>
          </p:cNvPr>
          <p:cNvSpPr>
            <a:spLocks noGrp="1"/>
          </p:cNvSpPr>
          <p:nvPr/>
        </p:nvSpPr>
        <p:spPr>
          <a:xfrm>
            <a:off x="819150" y="5429250"/>
            <a:ext cx="51244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Checklist y apoyo visual para registrar y verificar.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5E0EF66E-79AD-40E6-92A4-9F7F528C3F50}"/>
              </a:ext>
            </a:extLst>
          </p:cNvPr>
          <p:cNvSpPr>
            <a:spLocks noGrp="1"/>
          </p:cNvSpPr>
          <p:nvPr/>
        </p:nvSpPr>
        <p:spPr>
          <a:xfrm>
            <a:off x="6248400" y="5010150"/>
            <a:ext cx="57912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CF0"/>
            </a:solidFill>
            <a:prstDash val="solid"/>
          </a:ln>
        </p:spPr>
      </p:sp>
      <p:pic>
        <p:nvPicPr>
          <p:cNvPr id="29" name="Gráfico 2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6419850" y="5200650"/>
            <a:ext cx="228600" cy="228600"/>
          </a:xfrm>
          <a:prstGeom prst="rect">
            <a:avLst/>
          </a:prstGeom>
        </p:spPr>
      </p:pic>
      <p:sp>
        <p:nvSpPr>
          <p:cNvPr id="30" name="Rectángulo 29">
            <a:extLst>
              <a:ext uri="{FF2B5EF4-FFF2-40B4-BE49-F238E27FC236}">
                <a16:creationId xmlns:a16="http://schemas.microsoft.com/office/drawing/2014/main" id="{051B36CC-2859-44D3-B52B-62F1CA0B2098}"/>
              </a:ext>
            </a:extLst>
          </p:cNvPr>
          <p:cNvSpPr>
            <a:spLocks noGrp="1"/>
          </p:cNvSpPr>
          <p:nvPr/>
        </p:nvSpPr>
        <p:spPr>
          <a:xfrm>
            <a:off x="6762750" y="5162550"/>
            <a:ext cx="5124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Calidad</a:t>
            </a: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CE8B85E2-8CCA-4148-BE3B-810311D8CD1A}"/>
              </a:ext>
            </a:extLst>
          </p:cNvPr>
          <p:cNvSpPr>
            <a:spLocks noGrp="1"/>
          </p:cNvSpPr>
          <p:nvPr/>
        </p:nvSpPr>
        <p:spPr>
          <a:xfrm>
            <a:off x="6762750" y="5429250"/>
            <a:ext cx="51244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Reduccion de errores frecuentes (contra, fondo, recuperacion).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0474939D-1A21-4BE7-A84F-A4E3DC497924}"/>
              </a:ext>
            </a:extLst>
          </p:cNvPr>
          <p:cNvSpPr>
            <a:spLocks noGrp="1"/>
          </p:cNvSpPr>
          <p:nvPr/>
        </p:nvSpPr>
        <p:spPr>
          <a:xfrm>
            <a:off x="190500" y="6438900"/>
            <a:ext cx="11811000" cy="9525"/>
          </a:xfrm>
          <a:prstGeom prst="rect">
            <a:avLst/>
          </a:prstGeom>
          <a:solidFill>
            <a:srgbClr val="E2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2D87FA24-56D2-4B26-A3D4-58B13C75F4AF}"/>
              </a:ext>
            </a:extLst>
          </p:cNvPr>
          <p:cNvSpPr>
            <a:spLocks noGrp="1"/>
          </p:cNvSpPr>
          <p:nvPr/>
        </p:nvSpPr>
        <p:spPr>
          <a:xfrm>
            <a:off x="304800" y="6515100"/>
            <a:ext cx="495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Aprender a Controlar • Sondajes</a:t>
            </a: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850E9478-F958-4AA6-8E26-903B7D740E0B}"/>
              </a:ext>
            </a:extLst>
          </p:cNvPr>
          <p:cNvSpPr>
            <a:spLocks noGrp="1"/>
          </p:cNvSpPr>
          <p:nvPr/>
        </p:nvSpPr>
        <p:spPr>
          <a:xfrm>
            <a:off x="9144000" y="6515100"/>
            <a:ext cx="2743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63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Resumen ejecutivo</a:t>
            </a:r>
          </a:p>
        </p:txBody>
      </p:sp>
    </p:spTree>
    <p:extLst>
      <p:ext uri="{BB962C8B-B14F-4D97-AF65-F5344CB8AC3E}">
        <p14:creationId xmlns:p14="http://schemas.microsoft.com/office/powerpoint/2010/main" val="2595179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ángulo 39">
            <a:extLst>
              <a:ext uri="{FF2B5EF4-FFF2-40B4-BE49-F238E27FC236}">
                <a16:creationId xmlns:a16="http://schemas.microsoft.com/office/drawing/2014/main" id="{BA2C75C3-8A5C-4957-97C9-D143E3B2A62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6F91EEE-E119-49C9-B068-79BBAAFA8B1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3B71C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5A9F832B-8055-4988-B580-1E400513D91F}"/>
              </a:ext>
            </a:extLst>
          </p:cNvPr>
          <p:cNvSpPr>
            <a:spLocks noGrp="1"/>
          </p:cNvSpPr>
          <p:nvPr/>
        </p:nvSpPr>
        <p:spPr>
          <a:xfrm>
            <a:off x="304800" y="228600"/>
            <a:ext cx="115824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Propuesta de Valor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23BBDA8-C377-4572-9C20-C9C3D12F2645}"/>
              </a:ext>
            </a:extLst>
          </p:cNvPr>
          <p:cNvSpPr>
            <a:spLocks noGrp="1"/>
          </p:cNvSpPr>
          <p:nvPr/>
        </p:nvSpPr>
        <p:spPr>
          <a:xfrm>
            <a:off x="304800" y="666750"/>
            <a:ext cx="11582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Una app que une entrenamiento, herramientas y estandar operacional.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FA28D9E-55DA-4358-BB5A-991165AB1000}"/>
              </a:ext>
            </a:extLst>
          </p:cNvPr>
          <p:cNvSpPr>
            <a:spLocks noGrp="1"/>
          </p:cNvSpPr>
          <p:nvPr/>
        </p:nvSpPr>
        <p:spPr>
          <a:xfrm>
            <a:off x="304800" y="1428750"/>
            <a:ext cx="3733800" cy="23812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CF0"/>
            </a:solidFill>
            <a:prstDash val="solid"/>
          </a:ln>
        </p:spPr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1B680EFF-ED34-4D5B-BB54-26662313CB90}"/>
              </a:ext>
            </a:extLst>
          </p:cNvPr>
          <p:cNvSpPr>
            <a:spLocks noGrp="1"/>
          </p:cNvSpPr>
          <p:nvPr/>
        </p:nvSpPr>
        <p:spPr>
          <a:xfrm>
            <a:off x="476250" y="1600200"/>
            <a:ext cx="342900" cy="342900"/>
          </a:xfrm>
          <a:prstGeom prst="rect">
            <a:avLst/>
          </a:prstGeom>
          <a:solidFill>
            <a:srgbClr val="EFF6FF"/>
          </a:solidFill>
          <a:ln w="9525">
            <a:solidFill>
              <a:srgbClr val="E2ECF0"/>
            </a:solidFill>
            <a:prstDash val="solid"/>
          </a:ln>
        </p:spPr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A5A4F2F-59BA-4272-8D48-DF237D33C72D}"/>
              </a:ext>
            </a:extLst>
          </p:cNvPr>
          <p:cNvSpPr>
            <a:spLocks noGrp="1"/>
          </p:cNvSpPr>
          <p:nvPr/>
        </p:nvSpPr>
        <p:spPr>
          <a:xfrm>
            <a:off x="914400" y="1600200"/>
            <a:ext cx="2952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Aprendizaje guiado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F6F07370-D976-4EC8-9606-146FAE158F7E}"/>
              </a:ext>
            </a:extLst>
          </p:cNvPr>
          <p:cNvSpPr>
            <a:spLocks noGrp="1"/>
          </p:cNvSpPr>
          <p:nvPr/>
        </p:nvSpPr>
        <p:spPr>
          <a:xfrm>
            <a:off x="914400" y="1866900"/>
            <a:ext cx="2952750" cy="1809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Procedimiento paso a paso.</a:t>
            </a:r>
          </a:p>
          <a:p>
            <a:pPr algn="l">
              <a:defRPr sz="96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Criterios de medicion.</a:t>
            </a:r>
          </a:p>
          <a:p>
            <a:pPr algn="l">
              <a:defRPr sz="96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Seguridad y riesgos criticos.</a:t>
            </a:r>
          </a:p>
          <a:p>
            <a:pPr algn="l">
              <a:defRPr sz="96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Glosario y mapas conceptuales.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851CA28-E914-49E1-A126-418012A9AF00}"/>
              </a:ext>
            </a:extLst>
          </p:cNvPr>
          <p:cNvSpPr>
            <a:spLocks noGrp="1"/>
          </p:cNvSpPr>
          <p:nvPr/>
        </p:nvSpPr>
        <p:spPr>
          <a:xfrm>
            <a:off x="4229100" y="1428750"/>
            <a:ext cx="3733800" cy="23812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CF0"/>
            </a:solidFill>
            <a:prstDash val="solid"/>
          </a:ln>
        </p:spPr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865BF63D-BB1D-474D-B5AD-836931ACC586}"/>
              </a:ext>
            </a:extLst>
          </p:cNvPr>
          <p:cNvSpPr>
            <a:spLocks noGrp="1"/>
          </p:cNvSpPr>
          <p:nvPr/>
        </p:nvSpPr>
        <p:spPr>
          <a:xfrm>
            <a:off x="4400550" y="1600200"/>
            <a:ext cx="342900" cy="342900"/>
          </a:xfrm>
          <a:prstGeom prst="rect">
            <a:avLst/>
          </a:prstGeom>
          <a:solidFill>
            <a:srgbClr val="EFF6FF"/>
          </a:solidFill>
          <a:ln w="9525">
            <a:solidFill>
              <a:srgbClr val="E2ECF0"/>
            </a:solidFill>
            <a:prstDash val="solid"/>
          </a:ln>
        </p:spPr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71659275-99C1-48EA-9F71-BCE34FE45CDF}"/>
              </a:ext>
            </a:extLst>
          </p:cNvPr>
          <p:cNvSpPr>
            <a:spLocks noGrp="1"/>
          </p:cNvSpPr>
          <p:nvPr/>
        </p:nvSpPr>
        <p:spPr>
          <a:xfrm>
            <a:off x="4838700" y="1600200"/>
            <a:ext cx="2952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Herramientas en terreno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C7DEA48-644E-4ACA-A0BA-6FAFEB394432}"/>
              </a:ext>
            </a:extLst>
          </p:cNvPr>
          <p:cNvSpPr>
            <a:spLocks noGrp="1"/>
          </p:cNvSpPr>
          <p:nvPr/>
        </p:nvSpPr>
        <p:spPr>
          <a:xfrm>
            <a:off x="4838700" y="1866900"/>
            <a:ext cx="2952750" cy="1809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Calculadoras operacionales (contra, fondo, recuperacion, regularizacion).</a:t>
            </a:r>
          </a:p>
          <a:p>
            <a:pPr algn="l">
              <a:defRPr sz="96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Ejercicios practicos con retroalimentacion.</a:t>
            </a:r>
          </a:p>
          <a:p>
            <a:pPr algn="l">
              <a:defRPr sz="96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Formulas desplegables dentro de la vista.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362DE7E6-10D1-4307-8EF7-37B50412D68A}"/>
              </a:ext>
            </a:extLst>
          </p:cNvPr>
          <p:cNvSpPr>
            <a:spLocks noGrp="1"/>
          </p:cNvSpPr>
          <p:nvPr/>
        </p:nvSpPr>
        <p:spPr>
          <a:xfrm>
            <a:off x="8153400" y="1428750"/>
            <a:ext cx="3733800" cy="23812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CF0"/>
            </a:solidFill>
            <a:prstDash val="solid"/>
          </a:ln>
        </p:spPr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87385397-FFAB-42AA-8E7B-C5826417C094}"/>
              </a:ext>
            </a:extLst>
          </p:cNvPr>
          <p:cNvSpPr>
            <a:spLocks noGrp="1"/>
          </p:cNvSpPr>
          <p:nvPr/>
        </p:nvSpPr>
        <p:spPr>
          <a:xfrm>
            <a:off x="8324850" y="1600200"/>
            <a:ext cx="342900" cy="342900"/>
          </a:xfrm>
          <a:prstGeom prst="rect">
            <a:avLst/>
          </a:prstGeom>
          <a:solidFill>
            <a:srgbClr val="EFF6FF"/>
          </a:solidFill>
          <a:ln w="9525">
            <a:solidFill>
              <a:srgbClr val="E2ECF0"/>
            </a:solidFill>
            <a:prstDash val="solid"/>
          </a:ln>
        </p:spPr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B0BB4E52-515F-4576-80D5-D8E6E8CE519F}"/>
              </a:ext>
            </a:extLst>
          </p:cNvPr>
          <p:cNvSpPr>
            <a:spLocks noGrp="1"/>
          </p:cNvSpPr>
          <p:nvPr/>
        </p:nvSpPr>
        <p:spPr>
          <a:xfrm>
            <a:off x="8763000" y="1600200"/>
            <a:ext cx="2952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Estandar y evidencia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0CC50210-1376-4A6A-8522-3AF9F980BF05}"/>
              </a:ext>
            </a:extLst>
          </p:cNvPr>
          <p:cNvSpPr>
            <a:spLocks noGrp="1"/>
          </p:cNvSpPr>
          <p:nvPr/>
        </p:nvSpPr>
        <p:spPr>
          <a:xfrm>
            <a:off x="8763000" y="1866900"/>
            <a:ext cx="2952750" cy="1809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Checklist del turno.</a:t>
            </a:r>
          </a:p>
          <a:p>
            <a:pPr algn="l">
              <a:defRPr sz="96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Reportabilidad (minimos de turno).</a:t>
            </a:r>
          </a:p>
          <a:p>
            <a:pPr algn="l">
              <a:defRPr sz="96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Camara para fotografiar bandejas con ayuda memoria.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98155D84-CEA5-47AE-954E-8FD6FE01FC6F}"/>
              </a:ext>
            </a:extLst>
          </p:cNvPr>
          <p:cNvSpPr>
            <a:spLocks noGrp="1"/>
          </p:cNvSpPr>
          <p:nvPr/>
        </p:nvSpPr>
        <p:spPr>
          <a:xfrm>
            <a:off x="304800" y="4095750"/>
            <a:ext cx="11582400" cy="20955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CF0"/>
            </a:solidFill>
            <a:prstDash val="solid"/>
          </a:ln>
        </p:spPr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77292CC9-766F-4410-A19D-B705CED70793}"/>
              </a:ext>
            </a:extLst>
          </p:cNvPr>
          <p:cNvSpPr>
            <a:spLocks noGrp="1"/>
          </p:cNvSpPr>
          <p:nvPr/>
        </p:nvSpPr>
        <p:spPr>
          <a:xfrm>
            <a:off x="495300" y="4286250"/>
            <a:ext cx="8001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Uso tipico en un turno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672BDB83-D886-4535-82C0-F080E9309597}"/>
              </a:ext>
            </a:extLst>
          </p:cNvPr>
          <p:cNvSpPr>
            <a:spLocks noGrp="1"/>
          </p:cNvSpPr>
          <p:nvPr/>
        </p:nvSpPr>
        <p:spPr>
          <a:xfrm>
            <a:off x="571500" y="4705350"/>
            <a:ext cx="2667000" cy="1238250"/>
          </a:xfrm>
          <a:prstGeom prst="rect">
            <a:avLst/>
          </a:prstGeom>
          <a:solidFill>
            <a:srgbClr val="EFF6FF"/>
          </a:solidFill>
          <a:ln w="9525">
            <a:solidFill>
              <a:srgbClr val="E2ECF0"/>
            </a:solidFill>
            <a:prstDash val="solid"/>
          </a:ln>
        </p:spPr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A272EC54-1B78-4976-98EB-DE477857BAB3}"/>
              </a:ext>
            </a:extLst>
          </p:cNvPr>
          <p:cNvSpPr>
            <a:spLocks noGrp="1"/>
          </p:cNvSpPr>
          <p:nvPr/>
        </p:nvSpPr>
        <p:spPr>
          <a:xfrm>
            <a:off x="704850" y="4838700"/>
            <a:ext cx="2400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1. Inicio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A308E0A5-2921-4E7E-9660-CFFE2DDF0D38}"/>
              </a:ext>
            </a:extLst>
          </p:cNvPr>
          <p:cNvSpPr>
            <a:spLocks noGrp="1"/>
          </p:cNvSpPr>
          <p:nvPr/>
        </p:nvSpPr>
        <p:spPr>
          <a:xfrm>
            <a:off x="704850" y="5124450"/>
            <a:ext cx="24003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Checklist + seguridad</a:t>
            </a:r>
          </a:p>
        </p:txBody>
      </p:sp>
      <p:pic>
        <p:nvPicPr>
          <p:cNvPr id="22" name="Gráfico 2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533400" y="1657350"/>
            <a:ext cx="228600" cy="228600"/>
          </a:xfrm>
          <a:prstGeom prst="rect">
            <a:avLst/>
          </a:prstGeom>
        </p:spPr>
      </p:pic>
      <p:pic>
        <p:nvPicPr>
          <p:cNvPr id="23" name="Gráfico 2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4457700" y="1657350"/>
            <a:ext cx="228600" cy="228600"/>
          </a:xfrm>
          <a:prstGeom prst="rect">
            <a:avLst/>
          </a:prstGeom>
        </p:spPr>
      </p:pic>
      <p:pic>
        <p:nvPicPr>
          <p:cNvPr id="24" name="Gráfico 2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8382000" y="1657350"/>
            <a:ext cx="228600" cy="228600"/>
          </a:xfrm>
          <a:prstGeom prst="rect">
            <a:avLst/>
          </a:prstGeom>
        </p:spPr>
      </p:pic>
      <p:pic>
        <p:nvPicPr>
          <p:cNvPr id="25" name="Gráfico 2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3257550" y="5200650"/>
            <a:ext cx="209550" cy="209550"/>
          </a:xfrm>
          <a:prstGeom prst="rect">
            <a:avLst/>
          </a:prstGeom>
        </p:spPr>
      </p:pic>
      <p:sp>
        <p:nvSpPr>
          <p:cNvPr id="26" name="Rectángulo 25">
            <a:extLst>
              <a:ext uri="{FF2B5EF4-FFF2-40B4-BE49-F238E27FC236}">
                <a16:creationId xmlns:a16="http://schemas.microsoft.com/office/drawing/2014/main" id="{B49DCA98-B00E-4B33-A62C-104DBAF1365D}"/>
              </a:ext>
            </a:extLst>
          </p:cNvPr>
          <p:cNvSpPr>
            <a:spLocks noGrp="1"/>
          </p:cNvSpPr>
          <p:nvPr/>
        </p:nvSpPr>
        <p:spPr>
          <a:xfrm>
            <a:off x="3409950" y="4705350"/>
            <a:ext cx="2667000" cy="1238250"/>
          </a:xfrm>
          <a:prstGeom prst="rect">
            <a:avLst/>
          </a:prstGeom>
          <a:solidFill>
            <a:srgbClr val="EFF6FF"/>
          </a:solidFill>
          <a:ln w="9525">
            <a:solidFill>
              <a:srgbClr val="E2ECF0"/>
            </a:solidFill>
            <a:prstDash val="solid"/>
          </a:ln>
        </p:spPr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AD2EFE64-1A11-440B-BA84-F051658F582E}"/>
              </a:ext>
            </a:extLst>
          </p:cNvPr>
          <p:cNvSpPr>
            <a:spLocks noGrp="1"/>
          </p:cNvSpPr>
          <p:nvPr/>
        </p:nvSpPr>
        <p:spPr>
          <a:xfrm>
            <a:off x="3543300" y="4838700"/>
            <a:ext cx="2400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2. Operacion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950DBB72-5C53-4398-BFF7-02C64A08872E}"/>
              </a:ext>
            </a:extLst>
          </p:cNvPr>
          <p:cNvSpPr>
            <a:spLocks noGrp="1"/>
          </p:cNvSpPr>
          <p:nvPr/>
        </p:nvSpPr>
        <p:spPr>
          <a:xfrm>
            <a:off x="3543300" y="5124450"/>
            <a:ext cx="24003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Calculos rapidos + criterios</a:t>
            </a:r>
          </a:p>
        </p:txBody>
      </p:sp>
      <p:pic>
        <p:nvPicPr>
          <p:cNvPr id="29" name="Gráfico 2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6096000" y="5200650"/>
            <a:ext cx="209550" cy="209550"/>
          </a:xfrm>
          <a:prstGeom prst="rect">
            <a:avLst/>
          </a:prstGeom>
        </p:spPr>
      </p:pic>
      <p:sp>
        <p:nvSpPr>
          <p:cNvPr id="30" name="Rectángulo 29">
            <a:extLst>
              <a:ext uri="{FF2B5EF4-FFF2-40B4-BE49-F238E27FC236}">
                <a16:creationId xmlns:a16="http://schemas.microsoft.com/office/drawing/2014/main" id="{AC9639B6-FC03-4B8F-8FE7-26B4D7442322}"/>
              </a:ext>
            </a:extLst>
          </p:cNvPr>
          <p:cNvSpPr>
            <a:spLocks noGrp="1"/>
          </p:cNvSpPr>
          <p:nvPr/>
        </p:nvSpPr>
        <p:spPr>
          <a:xfrm>
            <a:off x="6248400" y="4705350"/>
            <a:ext cx="2667000" cy="1238250"/>
          </a:xfrm>
          <a:prstGeom prst="rect">
            <a:avLst/>
          </a:prstGeom>
          <a:solidFill>
            <a:srgbClr val="EFF6FF"/>
          </a:solidFill>
          <a:ln w="9525">
            <a:solidFill>
              <a:srgbClr val="E2ECF0"/>
            </a:solidFill>
            <a:prstDash val="solid"/>
          </a:ln>
        </p:spPr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DE948662-8925-44BC-9BD0-F6438F7F1A47}"/>
              </a:ext>
            </a:extLst>
          </p:cNvPr>
          <p:cNvSpPr>
            <a:spLocks noGrp="1"/>
          </p:cNvSpPr>
          <p:nvPr/>
        </p:nvSpPr>
        <p:spPr>
          <a:xfrm>
            <a:off x="6381750" y="4838700"/>
            <a:ext cx="2400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3. Verificacion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33693084-274A-4F8A-BA60-3E8A7DE63682}"/>
              </a:ext>
            </a:extLst>
          </p:cNvPr>
          <p:cNvSpPr>
            <a:spLocks noGrp="1"/>
          </p:cNvSpPr>
          <p:nvPr/>
        </p:nvSpPr>
        <p:spPr>
          <a:xfrm>
            <a:off x="6381750" y="5124450"/>
            <a:ext cx="24003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Ejercicios / refuerzo</a:t>
            </a:r>
          </a:p>
        </p:txBody>
      </p:sp>
      <p:pic>
        <p:nvPicPr>
          <p:cNvPr id="33" name="Gráfico 3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8934450" y="5200650"/>
            <a:ext cx="209550" cy="209550"/>
          </a:xfrm>
          <a:prstGeom prst="rect">
            <a:avLst/>
          </a:prstGeom>
        </p:spPr>
      </p:pic>
      <p:sp>
        <p:nvSpPr>
          <p:cNvPr id="34" name="Rectángulo 33">
            <a:extLst>
              <a:ext uri="{FF2B5EF4-FFF2-40B4-BE49-F238E27FC236}">
                <a16:creationId xmlns:a16="http://schemas.microsoft.com/office/drawing/2014/main" id="{EEE627AC-EB73-4AC5-93B0-BE7DA35868C4}"/>
              </a:ext>
            </a:extLst>
          </p:cNvPr>
          <p:cNvSpPr>
            <a:spLocks noGrp="1"/>
          </p:cNvSpPr>
          <p:nvPr/>
        </p:nvSpPr>
        <p:spPr>
          <a:xfrm>
            <a:off x="9086850" y="4705350"/>
            <a:ext cx="2667000" cy="1238250"/>
          </a:xfrm>
          <a:prstGeom prst="rect">
            <a:avLst/>
          </a:prstGeom>
          <a:solidFill>
            <a:srgbClr val="EFF6FF"/>
          </a:solidFill>
          <a:ln w="9525">
            <a:solidFill>
              <a:srgbClr val="E2ECF0"/>
            </a:solidFill>
            <a:prstDash val="solid"/>
          </a:ln>
        </p:spPr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9F7B1E42-9B36-45DE-A551-7CF42842EA1B}"/>
              </a:ext>
            </a:extLst>
          </p:cNvPr>
          <p:cNvSpPr>
            <a:spLocks noGrp="1"/>
          </p:cNvSpPr>
          <p:nvPr/>
        </p:nvSpPr>
        <p:spPr>
          <a:xfrm>
            <a:off x="9220200" y="4838700"/>
            <a:ext cx="2400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4. Cierre</a:t>
            </a: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82A6B248-F08F-4C09-A085-DA8B9F6E1CD2}"/>
              </a:ext>
            </a:extLst>
          </p:cNvPr>
          <p:cNvSpPr>
            <a:spLocks noGrp="1"/>
          </p:cNvSpPr>
          <p:nvPr/>
        </p:nvSpPr>
        <p:spPr>
          <a:xfrm>
            <a:off x="9220200" y="5124450"/>
            <a:ext cx="24003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Reportabilidad + evidencia visual</a:t>
            </a:r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2E9F605C-473C-48A6-B888-765887E7DF18}"/>
              </a:ext>
            </a:extLst>
          </p:cNvPr>
          <p:cNvSpPr>
            <a:spLocks noGrp="1"/>
          </p:cNvSpPr>
          <p:nvPr/>
        </p:nvSpPr>
        <p:spPr>
          <a:xfrm>
            <a:off x="190500" y="6438900"/>
            <a:ext cx="11811000" cy="9525"/>
          </a:xfrm>
          <a:prstGeom prst="rect">
            <a:avLst/>
          </a:prstGeom>
          <a:solidFill>
            <a:srgbClr val="E2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BA0C0F6E-2AA3-4E68-9E82-7F5A5E3911FC}"/>
              </a:ext>
            </a:extLst>
          </p:cNvPr>
          <p:cNvSpPr>
            <a:spLocks noGrp="1"/>
          </p:cNvSpPr>
          <p:nvPr/>
        </p:nvSpPr>
        <p:spPr>
          <a:xfrm>
            <a:off x="304800" y="6515100"/>
            <a:ext cx="495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Aprender a Controlar • Sondajes</a:t>
            </a:r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779D2155-B112-46DC-8906-4D5A25D3B0C2}"/>
              </a:ext>
            </a:extLst>
          </p:cNvPr>
          <p:cNvSpPr>
            <a:spLocks noGrp="1"/>
          </p:cNvSpPr>
          <p:nvPr/>
        </p:nvSpPr>
        <p:spPr>
          <a:xfrm>
            <a:off x="9144000" y="6515100"/>
            <a:ext cx="2743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63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Valor</a:t>
            </a:r>
          </a:p>
        </p:txBody>
      </p:sp>
    </p:spTree>
    <p:extLst>
      <p:ext uri="{BB962C8B-B14F-4D97-AF65-F5344CB8AC3E}">
        <p14:creationId xmlns:p14="http://schemas.microsoft.com/office/powerpoint/2010/main" val="6224580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ángulo 57">
            <a:extLst>
              <a:ext uri="{FF2B5EF4-FFF2-40B4-BE49-F238E27FC236}">
                <a16:creationId xmlns:a16="http://schemas.microsoft.com/office/drawing/2014/main" id="{EC38DCF5-D466-4137-86A0-3A845A207EB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9D3C1096-3885-4500-95FB-A48647079F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3B71C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1DF5694-4E24-41DA-8FDA-E3B28E312ECB}"/>
              </a:ext>
            </a:extLst>
          </p:cNvPr>
          <p:cNvSpPr>
            <a:spLocks noGrp="1"/>
          </p:cNvSpPr>
          <p:nvPr/>
        </p:nvSpPr>
        <p:spPr>
          <a:xfrm>
            <a:off x="304800" y="228600"/>
            <a:ext cx="115824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Modulos Principales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94FE45A7-97E4-4297-8019-E724D61C3ADD}"/>
              </a:ext>
            </a:extLst>
          </p:cNvPr>
          <p:cNvSpPr>
            <a:spLocks noGrp="1"/>
          </p:cNvSpPr>
          <p:nvPr/>
        </p:nvSpPr>
        <p:spPr>
          <a:xfrm>
            <a:off x="304800" y="666750"/>
            <a:ext cx="11582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Contenido teorico + practico, pensado para uso rapido en terreno.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40F85CA-5981-42C7-BE3E-F60C5D8D45D8}"/>
              </a:ext>
            </a:extLst>
          </p:cNvPr>
          <p:cNvSpPr>
            <a:spLocks noGrp="1"/>
          </p:cNvSpPr>
          <p:nvPr/>
        </p:nvSpPr>
        <p:spPr>
          <a:xfrm>
            <a:off x="304800" y="1428750"/>
            <a:ext cx="37338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CF0"/>
            </a:solidFill>
            <a:prstDash val="solid"/>
          </a:ln>
        </p:spPr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6DE9F173-D69B-4426-9512-9C864A240922}"/>
              </a:ext>
            </a:extLst>
          </p:cNvPr>
          <p:cNvSpPr>
            <a:spLocks noGrp="1"/>
          </p:cNvSpPr>
          <p:nvPr/>
        </p:nvSpPr>
        <p:spPr>
          <a:xfrm>
            <a:off x="476250" y="1600200"/>
            <a:ext cx="342900" cy="342900"/>
          </a:xfrm>
          <a:prstGeom prst="rect">
            <a:avLst/>
          </a:prstGeom>
          <a:solidFill>
            <a:srgbClr val="EFF6FF"/>
          </a:solidFill>
          <a:ln w="9525">
            <a:solidFill>
              <a:srgbClr val="E2ECF0"/>
            </a:solidFill>
            <a:prstDash val="solid"/>
          </a:ln>
        </p:spPr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5964D5F-6D42-47F5-97B8-644876FF658B}"/>
              </a:ext>
            </a:extLst>
          </p:cNvPr>
          <p:cNvSpPr>
            <a:spLocks noGrp="1"/>
          </p:cNvSpPr>
          <p:nvPr/>
        </p:nvSpPr>
        <p:spPr>
          <a:xfrm>
            <a:off x="914400" y="1600200"/>
            <a:ext cx="2952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Aprender procedimiento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7A5EE3E3-5024-4B25-AE5D-BB65EACF40C9}"/>
              </a:ext>
            </a:extLst>
          </p:cNvPr>
          <p:cNvSpPr>
            <a:spLocks noGrp="1"/>
          </p:cNvSpPr>
          <p:nvPr/>
        </p:nvSpPr>
        <p:spPr>
          <a:xfrm>
            <a:off x="914400" y="1866900"/>
            <a:ext cx="29527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Flujo completo paso a paso.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5059078B-A5B1-4B3C-8049-4F1B0F149B2F}"/>
              </a:ext>
            </a:extLst>
          </p:cNvPr>
          <p:cNvSpPr>
            <a:spLocks noGrp="1"/>
          </p:cNvSpPr>
          <p:nvPr/>
        </p:nvSpPr>
        <p:spPr>
          <a:xfrm>
            <a:off x="4191000" y="1428750"/>
            <a:ext cx="37338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CF0"/>
            </a:solidFill>
            <a:prstDash val="solid"/>
          </a:ln>
        </p:spPr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CC4C132D-B257-41A0-83A2-47A963A8A3CB}"/>
              </a:ext>
            </a:extLst>
          </p:cNvPr>
          <p:cNvSpPr>
            <a:spLocks noGrp="1"/>
          </p:cNvSpPr>
          <p:nvPr/>
        </p:nvSpPr>
        <p:spPr>
          <a:xfrm>
            <a:off x="4362450" y="1600200"/>
            <a:ext cx="342900" cy="342900"/>
          </a:xfrm>
          <a:prstGeom prst="rect">
            <a:avLst/>
          </a:prstGeom>
          <a:solidFill>
            <a:srgbClr val="EFF6FF"/>
          </a:solidFill>
          <a:ln w="9525">
            <a:solidFill>
              <a:srgbClr val="E2ECF0"/>
            </a:solidFill>
            <a:prstDash val="solid"/>
          </a:ln>
        </p:spPr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1D168E8F-685D-4580-AB1C-EB5302A7723D}"/>
              </a:ext>
            </a:extLst>
          </p:cNvPr>
          <p:cNvSpPr>
            <a:spLocks noGrp="1"/>
          </p:cNvSpPr>
          <p:nvPr/>
        </p:nvSpPr>
        <p:spPr>
          <a:xfrm>
            <a:off x="4800600" y="1600200"/>
            <a:ext cx="2952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Calculadoras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5C140C90-3CDB-4B4F-968A-0D2A019C9074}"/>
              </a:ext>
            </a:extLst>
          </p:cNvPr>
          <p:cNvSpPr>
            <a:spLocks noGrp="1"/>
          </p:cNvSpPr>
          <p:nvPr/>
        </p:nvSpPr>
        <p:spPr>
          <a:xfrm>
            <a:off x="4800600" y="1866900"/>
            <a:ext cx="29527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Contra, fondo, recuperacion, regularizacion.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30F71C8D-CA1E-41E9-8061-4897896CFEC8}"/>
              </a:ext>
            </a:extLst>
          </p:cNvPr>
          <p:cNvSpPr>
            <a:spLocks noGrp="1"/>
          </p:cNvSpPr>
          <p:nvPr/>
        </p:nvSpPr>
        <p:spPr>
          <a:xfrm>
            <a:off x="8077200" y="1428750"/>
            <a:ext cx="37338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CF0"/>
            </a:solidFill>
            <a:prstDash val="solid"/>
          </a:ln>
        </p:spPr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ACF8C26F-557E-42AD-B754-2165CB9C9CB1}"/>
              </a:ext>
            </a:extLst>
          </p:cNvPr>
          <p:cNvSpPr>
            <a:spLocks noGrp="1"/>
          </p:cNvSpPr>
          <p:nvPr/>
        </p:nvSpPr>
        <p:spPr>
          <a:xfrm>
            <a:off x="8248650" y="1600200"/>
            <a:ext cx="342900" cy="342900"/>
          </a:xfrm>
          <a:prstGeom prst="rect">
            <a:avLst/>
          </a:prstGeom>
          <a:solidFill>
            <a:srgbClr val="EFF6FF"/>
          </a:solidFill>
          <a:ln w="9525">
            <a:solidFill>
              <a:srgbClr val="E2ECF0"/>
            </a:solidFill>
            <a:prstDash val="solid"/>
          </a:ln>
        </p:spPr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99386ACB-F9F6-4F77-B313-D7B3C533FCF6}"/>
              </a:ext>
            </a:extLst>
          </p:cNvPr>
          <p:cNvSpPr>
            <a:spLocks noGrp="1"/>
          </p:cNvSpPr>
          <p:nvPr/>
        </p:nvSpPr>
        <p:spPr>
          <a:xfrm>
            <a:off x="8686800" y="1600200"/>
            <a:ext cx="2952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Ejercicios practicos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9009B060-2907-4380-9C38-CD61EB8FEE5C}"/>
              </a:ext>
            </a:extLst>
          </p:cNvPr>
          <p:cNvSpPr>
            <a:spLocks noGrp="1"/>
          </p:cNvSpPr>
          <p:nvPr/>
        </p:nvSpPr>
        <p:spPr>
          <a:xfrm>
            <a:off x="8686800" y="1866900"/>
            <a:ext cx="29527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Casos de calculo con feedback.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70C64E7D-45A0-49C4-B3DE-58A68B6EEE83}"/>
              </a:ext>
            </a:extLst>
          </p:cNvPr>
          <p:cNvSpPr>
            <a:spLocks noGrp="1"/>
          </p:cNvSpPr>
          <p:nvPr/>
        </p:nvSpPr>
        <p:spPr>
          <a:xfrm>
            <a:off x="304800" y="2705100"/>
            <a:ext cx="37338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CF0"/>
            </a:solidFill>
            <a:prstDash val="solid"/>
          </a:ln>
        </p:spPr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1321FA73-CCE2-45C0-AEA0-423B601775CF}"/>
              </a:ext>
            </a:extLst>
          </p:cNvPr>
          <p:cNvSpPr>
            <a:spLocks noGrp="1"/>
          </p:cNvSpPr>
          <p:nvPr/>
        </p:nvSpPr>
        <p:spPr>
          <a:xfrm>
            <a:off x="476250" y="2876550"/>
            <a:ext cx="342900" cy="342900"/>
          </a:xfrm>
          <a:prstGeom prst="rect">
            <a:avLst/>
          </a:prstGeom>
          <a:solidFill>
            <a:srgbClr val="EFF6FF"/>
          </a:solidFill>
          <a:ln w="9525">
            <a:solidFill>
              <a:srgbClr val="E2ECF0"/>
            </a:solidFill>
            <a:prstDash val="solid"/>
          </a:ln>
        </p:spPr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60499C47-07FA-434E-BF2A-E7B25D7E5D82}"/>
              </a:ext>
            </a:extLst>
          </p:cNvPr>
          <p:cNvSpPr>
            <a:spLocks noGrp="1"/>
          </p:cNvSpPr>
          <p:nvPr/>
        </p:nvSpPr>
        <p:spPr>
          <a:xfrm>
            <a:off x="914400" y="2876550"/>
            <a:ext cx="2952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Quiz con puntaje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946B08F2-7AB7-4167-B781-55FAE2784DA3}"/>
              </a:ext>
            </a:extLst>
          </p:cNvPr>
          <p:cNvSpPr>
            <a:spLocks noGrp="1"/>
          </p:cNvSpPr>
          <p:nvPr/>
        </p:nvSpPr>
        <p:spPr>
          <a:xfrm>
            <a:off x="914400" y="3143250"/>
            <a:ext cx="29527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Evaluacion rapida de teoria.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0690DD42-3541-4297-8FFB-F0F357FC8270}"/>
              </a:ext>
            </a:extLst>
          </p:cNvPr>
          <p:cNvSpPr>
            <a:spLocks noGrp="1"/>
          </p:cNvSpPr>
          <p:nvPr/>
        </p:nvSpPr>
        <p:spPr>
          <a:xfrm>
            <a:off x="4191000" y="2705100"/>
            <a:ext cx="37338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CF0"/>
            </a:solidFill>
            <a:prstDash val="solid"/>
          </a:ln>
        </p:spPr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DD16E1AE-5AC9-47FD-B089-E1BD3D5EA4E5}"/>
              </a:ext>
            </a:extLst>
          </p:cNvPr>
          <p:cNvSpPr>
            <a:spLocks noGrp="1"/>
          </p:cNvSpPr>
          <p:nvPr/>
        </p:nvSpPr>
        <p:spPr>
          <a:xfrm>
            <a:off x="4362450" y="2876550"/>
            <a:ext cx="342900" cy="342900"/>
          </a:xfrm>
          <a:prstGeom prst="rect">
            <a:avLst/>
          </a:prstGeom>
          <a:solidFill>
            <a:srgbClr val="EFF6FF"/>
          </a:solidFill>
          <a:ln w="9525">
            <a:solidFill>
              <a:srgbClr val="E2ECF0"/>
            </a:solidFill>
            <a:prstDash val="solid"/>
          </a:ln>
        </p:spPr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A70B5C1E-74F5-42E3-874C-10A73AE062C6}"/>
              </a:ext>
            </a:extLst>
          </p:cNvPr>
          <p:cNvSpPr>
            <a:spLocks noGrp="1"/>
          </p:cNvSpPr>
          <p:nvPr/>
        </p:nvSpPr>
        <p:spPr>
          <a:xfrm>
            <a:off x="4800600" y="2876550"/>
            <a:ext cx="2952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Checklist del turno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D5367028-FE40-4ADB-8BB6-98599BDAB5BB}"/>
              </a:ext>
            </a:extLst>
          </p:cNvPr>
          <p:cNvSpPr>
            <a:spLocks noGrp="1"/>
          </p:cNvSpPr>
          <p:nvPr/>
        </p:nvSpPr>
        <p:spPr>
          <a:xfrm>
            <a:off x="4800600" y="3143250"/>
            <a:ext cx="29527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Tareas criticas y control diario.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AB9EDAE5-C8F1-4DF0-A2E8-FE3C2C33BFA2}"/>
              </a:ext>
            </a:extLst>
          </p:cNvPr>
          <p:cNvSpPr>
            <a:spLocks noGrp="1"/>
          </p:cNvSpPr>
          <p:nvPr/>
        </p:nvSpPr>
        <p:spPr>
          <a:xfrm>
            <a:off x="8077200" y="2705100"/>
            <a:ext cx="37338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CF0"/>
            </a:solidFill>
            <a:prstDash val="solid"/>
          </a:ln>
        </p:spPr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6A7A4BCC-E3C3-45F6-8890-3D78B9BF57D8}"/>
              </a:ext>
            </a:extLst>
          </p:cNvPr>
          <p:cNvSpPr>
            <a:spLocks noGrp="1"/>
          </p:cNvSpPr>
          <p:nvPr/>
        </p:nvSpPr>
        <p:spPr>
          <a:xfrm>
            <a:off x="8248650" y="2876550"/>
            <a:ext cx="342900" cy="342900"/>
          </a:xfrm>
          <a:prstGeom prst="rect">
            <a:avLst/>
          </a:prstGeom>
          <a:solidFill>
            <a:srgbClr val="EFF6FF"/>
          </a:solidFill>
          <a:ln w="9525">
            <a:solidFill>
              <a:srgbClr val="E2ECF0"/>
            </a:solidFill>
            <a:prstDash val="solid"/>
          </a:ln>
        </p:spPr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C2BC62B7-53D0-470D-8393-55D20EB5F75D}"/>
              </a:ext>
            </a:extLst>
          </p:cNvPr>
          <p:cNvSpPr>
            <a:spLocks noGrp="1"/>
          </p:cNvSpPr>
          <p:nvPr/>
        </p:nvSpPr>
        <p:spPr>
          <a:xfrm>
            <a:off x="8686800" y="2876550"/>
            <a:ext cx="2952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Seguridad y riesgos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270AD5CB-58C6-44D7-A6DB-3DA40EAD395B}"/>
              </a:ext>
            </a:extLst>
          </p:cNvPr>
          <p:cNvSpPr>
            <a:spLocks noGrp="1"/>
          </p:cNvSpPr>
          <p:nvPr/>
        </p:nvSpPr>
        <p:spPr>
          <a:xfrm>
            <a:off x="8686800" y="3143250"/>
            <a:ext cx="29527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EPP y riesgos criticos.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AA0274FA-3497-4FD6-9595-88B5C312975F}"/>
              </a:ext>
            </a:extLst>
          </p:cNvPr>
          <p:cNvSpPr>
            <a:spLocks noGrp="1"/>
          </p:cNvSpPr>
          <p:nvPr/>
        </p:nvSpPr>
        <p:spPr>
          <a:xfrm>
            <a:off x="304800" y="3981450"/>
            <a:ext cx="37338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CF0"/>
            </a:solidFill>
            <a:prstDash val="solid"/>
          </a:ln>
        </p:spPr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4AF5A95D-DA72-4EAC-9701-175605A66EA4}"/>
              </a:ext>
            </a:extLst>
          </p:cNvPr>
          <p:cNvSpPr>
            <a:spLocks noGrp="1"/>
          </p:cNvSpPr>
          <p:nvPr/>
        </p:nvSpPr>
        <p:spPr>
          <a:xfrm>
            <a:off x="476250" y="4152900"/>
            <a:ext cx="342900" cy="342900"/>
          </a:xfrm>
          <a:prstGeom prst="rect">
            <a:avLst/>
          </a:prstGeom>
          <a:solidFill>
            <a:srgbClr val="EFF6FF"/>
          </a:solidFill>
          <a:ln w="9525">
            <a:solidFill>
              <a:srgbClr val="E2ECF0"/>
            </a:solidFill>
            <a:prstDash val="solid"/>
          </a:ln>
        </p:spPr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59BE9AD9-71F6-4D26-B3B2-C4A0633152CB}"/>
              </a:ext>
            </a:extLst>
          </p:cNvPr>
          <p:cNvSpPr>
            <a:spLocks noGrp="1"/>
          </p:cNvSpPr>
          <p:nvPr/>
        </p:nvSpPr>
        <p:spPr>
          <a:xfrm>
            <a:off x="914400" y="4152900"/>
            <a:ext cx="2952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Hacer cuaderno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54614535-2AF9-4952-8DBC-547A295513D1}"/>
              </a:ext>
            </a:extLst>
          </p:cNvPr>
          <p:cNvSpPr>
            <a:spLocks noGrp="1"/>
          </p:cNvSpPr>
          <p:nvPr/>
        </p:nvSpPr>
        <p:spPr>
          <a:xfrm>
            <a:off x="914400" y="4419600"/>
            <a:ext cx="29527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Guia para plantilla de terreno.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C2C4D17F-18AB-4DC5-8A44-C1199FD461B0}"/>
              </a:ext>
            </a:extLst>
          </p:cNvPr>
          <p:cNvSpPr>
            <a:spLocks noGrp="1"/>
          </p:cNvSpPr>
          <p:nvPr/>
        </p:nvSpPr>
        <p:spPr>
          <a:xfrm>
            <a:off x="4191000" y="3981450"/>
            <a:ext cx="37338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CF0"/>
            </a:solidFill>
            <a:prstDash val="solid"/>
          </a:ln>
        </p:spPr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2D88AFFF-063F-4F56-A487-4744066E895B}"/>
              </a:ext>
            </a:extLst>
          </p:cNvPr>
          <p:cNvSpPr>
            <a:spLocks noGrp="1"/>
          </p:cNvSpPr>
          <p:nvPr/>
        </p:nvSpPr>
        <p:spPr>
          <a:xfrm>
            <a:off x="4362450" y="4152900"/>
            <a:ext cx="342900" cy="342900"/>
          </a:xfrm>
          <a:prstGeom prst="rect">
            <a:avLst/>
          </a:prstGeom>
          <a:solidFill>
            <a:srgbClr val="EFF6FF"/>
          </a:solidFill>
          <a:ln w="9525">
            <a:solidFill>
              <a:srgbClr val="E2ECF0"/>
            </a:solidFill>
            <a:prstDash val="solid"/>
          </a:ln>
        </p:spPr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22C0F87E-F4B0-4A05-A455-3DA9FE8F5D3B}"/>
              </a:ext>
            </a:extLst>
          </p:cNvPr>
          <p:cNvSpPr>
            <a:spLocks noGrp="1"/>
          </p:cNvSpPr>
          <p:nvPr/>
        </p:nvSpPr>
        <p:spPr>
          <a:xfrm>
            <a:off x="4800600" y="4152900"/>
            <a:ext cx="2952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Fotografiar bandejas</a:t>
            </a: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49D2D981-35A9-43CB-8735-2EF43A8E73A4}"/>
              </a:ext>
            </a:extLst>
          </p:cNvPr>
          <p:cNvSpPr>
            <a:spLocks noGrp="1"/>
          </p:cNvSpPr>
          <p:nvPr/>
        </p:nvSpPr>
        <p:spPr>
          <a:xfrm>
            <a:off x="4800600" y="4419600"/>
            <a:ext cx="29527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Registro visual con camara.</a:t>
            </a:r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584BE4C7-C383-4A30-B420-65F1982E8120}"/>
              </a:ext>
            </a:extLst>
          </p:cNvPr>
          <p:cNvSpPr>
            <a:spLocks noGrp="1"/>
          </p:cNvSpPr>
          <p:nvPr/>
        </p:nvSpPr>
        <p:spPr>
          <a:xfrm>
            <a:off x="8077200" y="3981450"/>
            <a:ext cx="37338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CF0"/>
            </a:solidFill>
            <a:prstDash val="solid"/>
          </a:ln>
        </p:spPr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29A10041-7871-4D9F-B652-6BDAB5BEE706}"/>
              </a:ext>
            </a:extLst>
          </p:cNvPr>
          <p:cNvSpPr>
            <a:spLocks noGrp="1"/>
          </p:cNvSpPr>
          <p:nvPr/>
        </p:nvSpPr>
        <p:spPr>
          <a:xfrm>
            <a:off x="8248650" y="4152900"/>
            <a:ext cx="342900" cy="342900"/>
          </a:xfrm>
          <a:prstGeom prst="rect">
            <a:avLst/>
          </a:prstGeom>
          <a:solidFill>
            <a:srgbClr val="EFF6FF"/>
          </a:solidFill>
          <a:ln w="9525">
            <a:solidFill>
              <a:srgbClr val="E2ECF0"/>
            </a:solidFill>
            <a:prstDash val="solid"/>
          </a:ln>
        </p:spPr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FEAFA1DA-7C8F-4B23-A159-4E702B96BB41}"/>
              </a:ext>
            </a:extLst>
          </p:cNvPr>
          <p:cNvSpPr>
            <a:spLocks noGrp="1"/>
          </p:cNvSpPr>
          <p:nvPr/>
        </p:nvSpPr>
        <p:spPr>
          <a:xfrm>
            <a:off x="8686800" y="4152900"/>
            <a:ext cx="2952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Glosario</a:t>
            </a:r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B838C3E9-D696-4211-AD92-D931663F7C87}"/>
              </a:ext>
            </a:extLst>
          </p:cNvPr>
          <p:cNvSpPr>
            <a:spLocks noGrp="1"/>
          </p:cNvSpPr>
          <p:nvPr/>
        </p:nvSpPr>
        <p:spPr>
          <a:xfrm>
            <a:off x="8686800" y="4419600"/>
            <a:ext cx="29527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Conceptos y terminos clave.</a:t>
            </a:r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B789005F-51D9-43EE-BB6B-CC715EA551FC}"/>
              </a:ext>
            </a:extLst>
          </p:cNvPr>
          <p:cNvSpPr>
            <a:spLocks noGrp="1"/>
          </p:cNvSpPr>
          <p:nvPr/>
        </p:nvSpPr>
        <p:spPr>
          <a:xfrm>
            <a:off x="304800" y="5295900"/>
            <a:ext cx="1158240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CF0"/>
            </a:solidFill>
            <a:prstDash val="solid"/>
          </a:ln>
        </p:spPr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59039EC1-D085-424D-BB4E-B9645B2416BB}"/>
              </a:ext>
            </a:extLst>
          </p:cNvPr>
          <p:cNvSpPr>
            <a:spLocks noGrp="1"/>
          </p:cNvSpPr>
          <p:nvPr/>
        </p:nvSpPr>
        <p:spPr>
          <a:xfrm>
            <a:off x="476250" y="5467350"/>
            <a:ext cx="342900" cy="342900"/>
          </a:xfrm>
          <a:prstGeom prst="rect">
            <a:avLst/>
          </a:prstGeom>
          <a:solidFill>
            <a:srgbClr val="EFF6FF"/>
          </a:solidFill>
          <a:ln w="9525">
            <a:solidFill>
              <a:srgbClr val="E2ECF0"/>
            </a:solidFill>
            <a:prstDash val="solid"/>
          </a:ln>
        </p:spPr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D3CD6712-EE63-4906-8A9D-ADD8E89B4CDF}"/>
              </a:ext>
            </a:extLst>
          </p:cNvPr>
          <p:cNvSpPr>
            <a:spLocks noGrp="1"/>
          </p:cNvSpPr>
          <p:nvPr/>
        </p:nvSpPr>
        <p:spPr>
          <a:xfrm>
            <a:off x="914400" y="5467350"/>
            <a:ext cx="10801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Listo para iPad y Android (incl. S23 Ultra)</a:t>
            </a:r>
          </a:p>
        </p:txBody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81AC4766-8E96-44B6-BA91-BA46549A6FF7}"/>
              </a:ext>
            </a:extLst>
          </p:cNvPr>
          <p:cNvSpPr>
            <a:spLocks noGrp="1"/>
          </p:cNvSpPr>
          <p:nvPr/>
        </p:nvSpPr>
        <p:spPr>
          <a:xfrm>
            <a:off x="914400" y="5734050"/>
            <a:ext cx="108013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Flutter (iOS/Android). Controles de simetria para pantallas grandes y diferencias de plataforma.</a:t>
            </a:r>
          </a:p>
          <a:p>
            <a:pPr algn="l">
              <a:defRPr sz="96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Uso sin conexion: contenidos y calculos disponibles offline.</a:t>
            </a:r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7DEB104E-740B-4591-811F-1214F11D432B}"/>
              </a:ext>
            </a:extLst>
          </p:cNvPr>
          <p:cNvSpPr>
            <a:spLocks noGrp="1"/>
          </p:cNvSpPr>
          <p:nvPr/>
        </p:nvSpPr>
        <p:spPr>
          <a:xfrm>
            <a:off x="190500" y="6438900"/>
            <a:ext cx="11811000" cy="9525"/>
          </a:xfrm>
          <a:prstGeom prst="rect">
            <a:avLst/>
          </a:prstGeom>
          <a:solidFill>
            <a:srgbClr val="E2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Rectángulo 45">
            <a:extLst>
              <a:ext uri="{FF2B5EF4-FFF2-40B4-BE49-F238E27FC236}">
                <a16:creationId xmlns:a16="http://schemas.microsoft.com/office/drawing/2014/main" id="{BAF88DD6-589E-47B2-B6EB-9FC886008BEF}"/>
              </a:ext>
            </a:extLst>
          </p:cNvPr>
          <p:cNvSpPr>
            <a:spLocks noGrp="1"/>
          </p:cNvSpPr>
          <p:nvPr/>
        </p:nvSpPr>
        <p:spPr>
          <a:xfrm>
            <a:off x="304800" y="6515100"/>
            <a:ext cx="495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Aprender a Controlar • Sondajes</a:t>
            </a:r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E32F2A3A-E9E1-43D8-B9B2-C5945AD1A3C0}"/>
              </a:ext>
            </a:extLst>
          </p:cNvPr>
          <p:cNvSpPr>
            <a:spLocks noGrp="1"/>
          </p:cNvSpPr>
          <p:nvPr/>
        </p:nvSpPr>
        <p:spPr>
          <a:xfrm>
            <a:off x="9144000" y="6515100"/>
            <a:ext cx="2743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63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Mapa del producto</a:t>
            </a:r>
          </a:p>
        </p:txBody>
      </p:sp>
      <p:pic>
        <p:nvPicPr>
          <p:cNvPr id="48" name="Gráfico 4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533400" y="1657350"/>
            <a:ext cx="228600" cy="228600"/>
          </a:xfrm>
          <a:prstGeom prst="rect">
            <a:avLst/>
          </a:prstGeom>
        </p:spPr>
      </p:pic>
      <p:pic>
        <p:nvPicPr>
          <p:cNvPr id="49" name="Gráfico 4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4419600" y="1657350"/>
            <a:ext cx="228600" cy="228600"/>
          </a:xfrm>
          <a:prstGeom prst="rect">
            <a:avLst/>
          </a:prstGeom>
        </p:spPr>
      </p:pic>
      <p:pic>
        <p:nvPicPr>
          <p:cNvPr id="50" name="Gráfico 4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8305800" y="1657350"/>
            <a:ext cx="228600" cy="228600"/>
          </a:xfrm>
          <a:prstGeom prst="rect">
            <a:avLst/>
          </a:prstGeom>
        </p:spPr>
      </p:pic>
      <p:pic>
        <p:nvPicPr>
          <p:cNvPr id="51" name="Gráfico 5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533400" y="2933700"/>
            <a:ext cx="228600" cy="228600"/>
          </a:xfrm>
          <a:prstGeom prst="rect">
            <a:avLst/>
          </a:prstGeom>
        </p:spPr>
      </p:pic>
      <p:pic>
        <p:nvPicPr>
          <p:cNvPr id="52" name="Gráfico 5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4419600" y="2933700"/>
            <a:ext cx="228600" cy="228600"/>
          </a:xfrm>
          <a:prstGeom prst="rect">
            <a:avLst/>
          </a:prstGeom>
        </p:spPr>
      </p:pic>
      <p:pic>
        <p:nvPicPr>
          <p:cNvPr id="53" name="Gráfico 5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8305800" y="2933700"/>
            <a:ext cx="228600" cy="228600"/>
          </a:xfrm>
          <a:prstGeom prst="rect">
            <a:avLst/>
          </a:prstGeom>
        </p:spPr>
      </p:pic>
      <p:pic>
        <p:nvPicPr>
          <p:cNvPr id="54" name="Gráfico 5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/>
        </p:blipFill>
        <p:spPr>
          <a:xfrm>
            <a:off x="533400" y="4210050"/>
            <a:ext cx="228600" cy="228600"/>
          </a:xfrm>
          <a:prstGeom prst="rect">
            <a:avLst/>
          </a:prstGeom>
        </p:spPr>
      </p:pic>
      <p:pic>
        <p:nvPicPr>
          <p:cNvPr id="55" name="Gráfico 5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>
            <a:off x="4419600" y="4210050"/>
            <a:ext cx="228600" cy="228600"/>
          </a:xfrm>
          <a:prstGeom prst="rect">
            <a:avLst/>
          </a:prstGeom>
        </p:spPr>
      </p:pic>
      <p:pic>
        <p:nvPicPr>
          <p:cNvPr id="56" name="Gráfico 5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/>
        </p:blipFill>
        <p:spPr>
          <a:xfrm>
            <a:off x="8305800" y="4210050"/>
            <a:ext cx="228600" cy="228600"/>
          </a:xfrm>
          <a:prstGeom prst="rect">
            <a:avLst/>
          </a:prstGeom>
        </p:spPr>
      </p:pic>
      <p:pic>
        <p:nvPicPr>
          <p:cNvPr id="57" name="Gráfico 5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/>
        </p:blipFill>
        <p:spPr>
          <a:xfrm>
            <a:off x="533400" y="5524500"/>
            <a:ext cx="228600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843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ángulo 26">
            <a:extLst>
              <a:ext uri="{FF2B5EF4-FFF2-40B4-BE49-F238E27FC236}">
                <a16:creationId xmlns:a16="http://schemas.microsoft.com/office/drawing/2014/main" id="{EDA54E12-6E3F-4E92-83A3-B8E3ED6687D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91FACA5D-C452-4D8C-B628-43E9E0AFDED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3B71C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ABF4715E-5ECC-4850-889A-6593CC78B063}"/>
              </a:ext>
            </a:extLst>
          </p:cNvPr>
          <p:cNvSpPr>
            <a:spLocks noGrp="1"/>
          </p:cNvSpPr>
          <p:nvPr/>
        </p:nvSpPr>
        <p:spPr>
          <a:xfrm>
            <a:off x="304800" y="228600"/>
            <a:ext cx="115824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Ejercicios Practicos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BF48E54C-F6E7-4758-8CBB-32E9E49855B7}"/>
              </a:ext>
            </a:extLst>
          </p:cNvPr>
          <p:cNvSpPr>
            <a:spLocks noGrp="1"/>
          </p:cNvSpPr>
          <p:nvPr/>
        </p:nvSpPr>
        <p:spPr>
          <a:xfrm>
            <a:off x="304800" y="666750"/>
            <a:ext cx="11582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Entrenamiento aplicado con retroalimentacion y formulas claras.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834F002-4244-4389-90EF-CF0EFCEBB530}"/>
              </a:ext>
            </a:extLst>
          </p:cNvPr>
          <p:cNvSpPr>
            <a:spLocks noGrp="1"/>
          </p:cNvSpPr>
          <p:nvPr/>
        </p:nvSpPr>
        <p:spPr>
          <a:xfrm>
            <a:off x="304800" y="1428750"/>
            <a:ext cx="5715000" cy="20955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CF0"/>
            </a:solidFill>
            <a:prstDash val="solid"/>
          </a:ln>
        </p:spPr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1286EAAB-7E7E-4151-9F3E-DB85C63D6704}"/>
              </a:ext>
            </a:extLst>
          </p:cNvPr>
          <p:cNvSpPr>
            <a:spLocks noGrp="1"/>
          </p:cNvSpPr>
          <p:nvPr/>
        </p:nvSpPr>
        <p:spPr>
          <a:xfrm>
            <a:off x="476250" y="1600200"/>
            <a:ext cx="342900" cy="342900"/>
          </a:xfrm>
          <a:prstGeom prst="rect">
            <a:avLst/>
          </a:prstGeom>
          <a:solidFill>
            <a:srgbClr val="EFF6FF"/>
          </a:solidFill>
          <a:ln w="9525">
            <a:solidFill>
              <a:srgbClr val="E2ECF0"/>
            </a:solidFill>
            <a:prstDash val="solid"/>
          </a:ln>
        </p:spPr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FC1FF06-73BF-4D06-ABBA-792E622D0A99}"/>
              </a:ext>
            </a:extLst>
          </p:cNvPr>
          <p:cNvSpPr>
            <a:spLocks noGrp="1"/>
          </p:cNvSpPr>
          <p:nvPr/>
        </p:nvSpPr>
        <p:spPr>
          <a:xfrm>
            <a:off x="914400" y="1600200"/>
            <a:ext cx="4933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Modo ronda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9AE2A92-8B6B-4D4B-A863-2730E6D64F40}"/>
              </a:ext>
            </a:extLst>
          </p:cNvPr>
          <p:cNvSpPr>
            <a:spLocks noGrp="1"/>
          </p:cNvSpPr>
          <p:nvPr/>
        </p:nvSpPr>
        <p:spPr>
          <a:xfrm>
            <a:off x="914400" y="1866900"/>
            <a:ext cx="4933950" cy="1524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Rondas de ejercicios por nivel.</a:t>
            </a:r>
          </a:p>
          <a:p>
            <a:pPr algn="l">
              <a:defRPr sz="96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Correccion inmediata y pantalla de resultados.</a:t>
            </a:r>
          </a:p>
          <a:p>
            <a:pPr algn="l">
              <a:defRPr sz="96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Lista de incorrectas para repaso.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8E89C5C-C91C-43CE-949A-E2697BE2A66D}"/>
              </a:ext>
            </a:extLst>
          </p:cNvPr>
          <p:cNvSpPr>
            <a:spLocks noGrp="1"/>
          </p:cNvSpPr>
          <p:nvPr/>
        </p:nvSpPr>
        <p:spPr>
          <a:xfrm>
            <a:off x="6172200" y="1428750"/>
            <a:ext cx="5715000" cy="20955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CF0"/>
            </a:solidFill>
            <a:prstDash val="solid"/>
          </a:ln>
        </p:spPr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83620182-FE5C-44A9-ADBE-DB2D7192E9B6}"/>
              </a:ext>
            </a:extLst>
          </p:cNvPr>
          <p:cNvSpPr>
            <a:spLocks noGrp="1"/>
          </p:cNvSpPr>
          <p:nvPr/>
        </p:nvSpPr>
        <p:spPr>
          <a:xfrm>
            <a:off x="6343650" y="1600200"/>
            <a:ext cx="342900" cy="342900"/>
          </a:xfrm>
          <a:prstGeom prst="rect">
            <a:avLst/>
          </a:prstGeom>
          <a:solidFill>
            <a:srgbClr val="EFF6FF"/>
          </a:solidFill>
          <a:ln w="9525">
            <a:solidFill>
              <a:srgbClr val="E2ECF0"/>
            </a:solidFill>
            <a:prstDash val="solid"/>
          </a:ln>
        </p:spPr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CF21451A-BEED-49EE-99A0-1300EAD962F2}"/>
              </a:ext>
            </a:extLst>
          </p:cNvPr>
          <p:cNvSpPr>
            <a:spLocks noGrp="1"/>
          </p:cNvSpPr>
          <p:nvPr/>
        </p:nvSpPr>
        <p:spPr>
          <a:xfrm>
            <a:off x="6781800" y="1600200"/>
            <a:ext cx="4933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Entrenador por tema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823D7DA7-844C-47C8-AF7D-998F80CA5FFC}"/>
              </a:ext>
            </a:extLst>
          </p:cNvPr>
          <p:cNvSpPr>
            <a:spLocks noGrp="1"/>
          </p:cNvSpPr>
          <p:nvPr/>
        </p:nvSpPr>
        <p:spPr>
          <a:xfrm>
            <a:off x="6781800" y="1866900"/>
            <a:ext cx="4933950" cy="1524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Practica focalizada: contra, fondo, recuperacion, regularizacion y perforado.</a:t>
            </a:r>
          </a:p>
          <a:p>
            <a:pPr algn="l">
              <a:defRPr sz="96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Ideal para refuerzo rapido antes o durante el turno.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1D0C5F62-7B30-4645-BE22-A14425B9471F}"/>
              </a:ext>
            </a:extLst>
          </p:cNvPr>
          <p:cNvSpPr>
            <a:spLocks noGrp="1"/>
          </p:cNvSpPr>
          <p:nvPr/>
        </p:nvSpPr>
        <p:spPr>
          <a:xfrm>
            <a:off x="304800" y="3752850"/>
            <a:ext cx="11582400" cy="2438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CF0"/>
            </a:solidFill>
            <a:prstDash val="solid"/>
          </a:ln>
        </p:spPr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DA6E46FA-405B-460A-A797-3070E34D41C7}"/>
              </a:ext>
            </a:extLst>
          </p:cNvPr>
          <p:cNvSpPr>
            <a:spLocks noGrp="1"/>
          </p:cNvSpPr>
          <p:nvPr/>
        </p:nvSpPr>
        <p:spPr>
          <a:xfrm>
            <a:off x="495300" y="3943350"/>
            <a:ext cx="10477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Formulas desplegables (sin pop-up)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406D257E-994C-402F-BC26-0BD971C64234}"/>
              </a:ext>
            </a:extLst>
          </p:cNvPr>
          <p:cNvSpPr>
            <a:spLocks noGrp="1"/>
          </p:cNvSpPr>
          <p:nvPr/>
        </p:nvSpPr>
        <p:spPr>
          <a:xfrm>
            <a:off x="495300" y="4324350"/>
            <a:ext cx="7810500" cy="1619250"/>
          </a:xfrm>
          <a:prstGeom prst="rect">
            <a:avLst/>
          </a:prstGeom>
          <a:solidFill>
            <a:srgbClr val="EFF6FF"/>
          </a:solidFill>
          <a:ln w="9525">
            <a:solidFill>
              <a:srgbClr val="E2ECF0"/>
            </a:solidFill>
            <a:prstDash val="solid"/>
          </a:ln>
        </p:spPr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561B206A-12B7-491D-B3B3-761BAF380E99}"/>
              </a:ext>
            </a:extLst>
          </p:cNvPr>
          <p:cNvSpPr>
            <a:spLocks noGrp="1"/>
          </p:cNvSpPr>
          <p:nvPr/>
        </p:nvSpPr>
        <p:spPr>
          <a:xfrm>
            <a:off x="666750" y="4495800"/>
            <a:ext cx="7429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Ejemplo: Determina el porcentaje de recuperacion.</a:t>
            </a:r>
          </a:p>
          <a:p>
            <a:pPr algn="l">
              <a:defRPr sz="1013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Datos: perforado = 2.70 m, recuperado = 2.43 m.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8714A373-B868-4E79-8992-F8FB59C4320D}"/>
              </a:ext>
            </a:extLst>
          </p:cNvPr>
          <p:cNvSpPr>
            <a:spLocks noGrp="1"/>
          </p:cNvSpPr>
          <p:nvPr/>
        </p:nvSpPr>
        <p:spPr>
          <a:xfrm>
            <a:off x="666750" y="5257800"/>
            <a:ext cx="1047750" cy="285750"/>
          </a:xfrm>
          <a:prstGeom prst="rect">
            <a:avLst/>
          </a:prstGeom>
          <a:solidFill>
            <a:srgbClr val="DBEAFE"/>
          </a:solidFill>
          <a:ln w="9525">
            <a:solidFill>
              <a:srgbClr val="E2ECF0"/>
            </a:solidFill>
            <a:prstDash val="solid"/>
          </a:ln>
        </p:spPr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386BD0B3-3264-4414-8AC6-DBE6C25125DE}"/>
              </a:ext>
            </a:extLst>
          </p:cNvPr>
          <p:cNvSpPr>
            <a:spLocks noGrp="1"/>
          </p:cNvSpPr>
          <p:nvPr/>
        </p:nvSpPr>
        <p:spPr>
          <a:xfrm>
            <a:off x="666750" y="5324475"/>
            <a:ext cx="1047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Formula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BBE9391D-84EF-4EAB-BC3B-FA15FCF3E893}"/>
              </a:ext>
            </a:extLst>
          </p:cNvPr>
          <p:cNvSpPr>
            <a:spLocks noGrp="1"/>
          </p:cNvSpPr>
          <p:nvPr/>
        </p:nvSpPr>
        <p:spPr>
          <a:xfrm>
            <a:off x="8572500" y="4324350"/>
            <a:ext cx="3124200" cy="16192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CF0"/>
            </a:solidFill>
            <a:prstDash val="solid"/>
          </a:ln>
        </p:spPr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B0C6DDD0-4EEC-4A1D-B5AC-E5F76F8F1F41}"/>
              </a:ext>
            </a:extLst>
          </p:cNvPr>
          <p:cNvSpPr>
            <a:spLocks noGrp="1"/>
          </p:cNvSpPr>
          <p:nvPr/>
        </p:nvSpPr>
        <p:spPr>
          <a:xfrm>
            <a:off x="8743950" y="4495800"/>
            <a:ext cx="2762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LaTeX (legible)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23FBB9AE-9E34-42BC-AD59-8D2406692EB0}"/>
              </a:ext>
            </a:extLst>
          </p:cNvPr>
          <p:cNvSpPr>
            <a:spLocks noGrp="1"/>
          </p:cNvSpPr>
          <p:nvPr/>
        </p:nvSpPr>
        <p:spPr>
          <a:xfrm>
            <a:off x="8743950" y="4762500"/>
            <a:ext cx="276225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1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 = (r/p) x 100</a:t>
            </a:r>
          </a:p>
          <a:p>
            <a:endParaRPr sz="915" b="0">
              <a:solidFill>
                <a:srgbClr val="475569"/>
              </a:solidFill>
              <a:latin typeface="Aptos"/>
              <a:ea typeface="Aptos"/>
              <a:cs typeface="Aptos"/>
            </a:endParaRPr>
          </a:p>
          <a:p>
            <a:pPr algn="l">
              <a:defRPr sz="91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Donde:</a:t>
            </a:r>
          </a:p>
          <a:p>
            <a:pPr algn="l">
              <a:defRPr sz="91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 = recuperado</a:t>
            </a:r>
          </a:p>
          <a:p>
            <a:pPr algn="l">
              <a:defRPr sz="91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 = perforado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92D57AE4-8694-49C1-991C-3ED066A98A87}"/>
              </a:ext>
            </a:extLst>
          </p:cNvPr>
          <p:cNvSpPr>
            <a:spLocks noGrp="1"/>
          </p:cNvSpPr>
          <p:nvPr/>
        </p:nvSpPr>
        <p:spPr>
          <a:xfrm>
            <a:off x="190500" y="6438900"/>
            <a:ext cx="11811000" cy="9525"/>
          </a:xfrm>
          <a:prstGeom prst="rect">
            <a:avLst/>
          </a:prstGeom>
          <a:solidFill>
            <a:srgbClr val="E2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23BBAD23-5AE8-4D99-826D-B8DF1E1A7A46}"/>
              </a:ext>
            </a:extLst>
          </p:cNvPr>
          <p:cNvSpPr>
            <a:spLocks noGrp="1"/>
          </p:cNvSpPr>
          <p:nvPr/>
        </p:nvSpPr>
        <p:spPr>
          <a:xfrm>
            <a:off x="304800" y="6515100"/>
            <a:ext cx="495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Aprender a Controlar • Sondajes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888913ED-78C5-4EB0-9CE1-AFB30805F308}"/>
              </a:ext>
            </a:extLst>
          </p:cNvPr>
          <p:cNvSpPr>
            <a:spLocks noGrp="1"/>
          </p:cNvSpPr>
          <p:nvPr/>
        </p:nvSpPr>
        <p:spPr>
          <a:xfrm>
            <a:off x="9144000" y="6515100"/>
            <a:ext cx="2743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63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Practica aplicada</a:t>
            </a:r>
          </a:p>
        </p:txBody>
      </p:sp>
      <p:pic>
        <p:nvPicPr>
          <p:cNvPr id="25" name="Gráfico 2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533400" y="1657350"/>
            <a:ext cx="228600" cy="228600"/>
          </a:xfrm>
          <a:prstGeom prst="rect">
            <a:avLst/>
          </a:prstGeom>
        </p:spPr>
      </p:pic>
      <p:pic>
        <p:nvPicPr>
          <p:cNvPr id="26" name="Gráfico 2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6400800" y="1657350"/>
            <a:ext cx="228600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5671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ángulo 35">
            <a:extLst>
              <a:ext uri="{FF2B5EF4-FFF2-40B4-BE49-F238E27FC236}">
                <a16:creationId xmlns:a16="http://schemas.microsoft.com/office/drawing/2014/main" id="{FC3ACD88-6231-4726-8428-42730AF39C1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47BB70D-5BCC-4FA6-A03A-206002CC970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3B71C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E0484415-27D7-477C-B903-024DBD7457A3}"/>
              </a:ext>
            </a:extLst>
          </p:cNvPr>
          <p:cNvSpPr>
            <a:spLocks noGrp="1"/>
          </p:cNvSpPr>
          <p:nvPr/>
        </p:nvSpPr>
        <p:spPr>
          <a:xfrm>
            <a:off x="304800" y="228600"/>
            <a:ext cx="115824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Calculadoras Operacionales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A2B9729-26E6-445B-9734-0165A32F397A}"/>
              </a:ext>
            </a:extLst>
          </p:cNvPr>
          <p:cNvSpPr>
            <a:spLocks noGrp="1"/>
          </p:cNvSpPr>
          <p:nvPr/>
        </p:nvSpPr>
        <p:spPr>
          <a:xfrm>
            <a:off x="304800" y="666750"/>
            <a:ext cx="11582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Resuelve calculos frecuentes con criterio consistente y rapido.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D23773A-69CA-4923-91C6-0D200EC188A8}"/>
              </a:ext>
            </a:extLst>
          </p:cNvPr>
          <p:cNvSpPr>
            <a:spLocks noGrp="1"/>
          </p:cNvSpPr>
          <p:nvPr/>
        </p:nvSpPr>
        <p:spPr>
          <a:xfrm>
            <a:off x="304800" y="1428750"/>
            <a:ext cx="5791200" cy="12573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CF0"/>
            </a:solidFill>
            <a:prstDash val="solid"/>
          </a:ln>
        </p:spPr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AC95A7E-D233-4302-8666-CD5E8EE130FF}"/>
              </a:ext>
            </a:extLst>
          </p:cNvPr>
          <p:cNvSpPr>
            <a:spLocks noGrp="1"/>
          </p:cNvSpPr>
          <p:nvPr/>
        </p:nvSpPr>
        <p:spPr>
          <a:xfrm>
            <a:off x="476250" y="1600200"/>
            <a:ext cx="342900" cy="342900"/>
          </a:xfrm>
          <a:prstGeom prst="rect">
            <a:avLst/>
          </a:prstGeom>
          <a:solidFill>
            <a:srgbClr val="EFF6FF"/>
          </a:solidFill>
          <a:ln w="9525">
            <a:solidFill>
              <a:srgbClr val="E2ECF0"/>
            </a:solidFill>
            <a:prstDash val="solid"/>
          </a:ln>
        </p:spPr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9A78FA9-6FF2-4A4C-AB82-2712D7BD1B88}"/>
              </a:ext>
            </a:extLst>
          </p:cNvPr>
          <p:cNvSpPr>
            <a:spLocks noGrp="1"/>
          </p:cNvSpPr>
          <p:nvPr/>
        </p:nvSpPr>
        <p:spPr>
          <a:xfrm>
            <a:off x="914400" y="1600200"/>
            <a:ext cx="50101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Recuperacion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34284C7-ECAA-44A8-BBB3-1551AA03A748}"/>
              </a:ext>
            </a:extLst>
          </p:cNvPr>
          <p:cNvSpPr>
            <a:spLocks noGrp="1"/>
          </p:cNvSpPr>
          <p:nvPr/>
        </p:nvSpPr>
        <p:spPr>
          <a:xfrm>
            <a:off x="914400" y="1866900"/>
            <a:ext cx="50101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Porcentaje y validacion de sobre-100%.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6DA03BAC-5A47-4A26-A9B3-9D4D38C649A7}"/>
              </a:ext>
            </a:extLst>
          </p:cNvPr>
          <p:cNvSpPr>
            <a:spLocks noGrp="1"/>
          </p:cNvSpPr>
          <p:nvPr/>
        </p:nvSpPr>
        <p:spPr>
          <a:xfrm>
            <a:off x="6248400" y="1428750"/>
            <a:ext cx="5791200" cy="12573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CF0"/>
            </a:solidFill>
            <a:prstDash val="solid"/>
          </a:ln>
        </p:spPr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8987908-60B6-4102-8573-4048BA960A1A}"/>
              </a:ext>
            </a:extLst>
          </p:cNvPr>
          <p:cNvSpPr>
            <a:spLocks noGrp="1"/>
          </p:cNvSpPr>
          <p:nvPr/>
        </p:nvSpPr>
        <p:spPr>
          <a:xfrm>
            <a:off x="6419850" y="1600200"/>
            <a:ext cx="342900" cy="342900"/>
          </a:xfrm>
          <a:prstGeom prst="rect">
            <a:avLst/>
          </a:prstGeom>
          <a:solidFill>
            <a:srgbClr val="EFF6FF"/>
          </a:solidFill>
          <a:ln w="9525">
            <a:solidFill>
              <a:srgbClr val="E2ECF0"/>
            </a:solidFill>
            <a:prstDash val="solid"/>
          </a:ln>
        </p:spPr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4F2AA2FE-8CA3-4432-B3D9-B44AFFB2B9F6}"/>
              </a:ext>
            </a:extLst>
          </p:cNvPr>
          <p:cNvSpPr>
            <a:spLocks noGrp="1"/>
          </p:cNvSpPr>
          <p:nvPr/>
        </p:nvSpPr>
        <p:spPr>
          <a:xfrm>
            <a:off x="6858000" y="1600200"/>
            <a:ext cx="50101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Contra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C2B799D0-4517-490A-AC77-F12E32BA076A}"/>
              </a:ext>
            </a:extLst>
          </p:cNvPr>
          <p:cNvSpPr>
            <a:spLocks noGrp="1"/>
          </p:cNvSpPr>
          <p:nvPr/>
        </p:nvSpPr>
        <p:spPr>
          <a:xfrm>
            <a:off x="6858000" y="1866900"/>
            <a:ext cx="50101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Contra anterior/actual y ajustes por barra.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5D2D790F-B9BB-49D5-855F-200D1EE255C0}"/>
              </a:ext>
            </a:extLst>
          </p:cNvPr>
          <p:cNvSpPr>
            <a:spLocks noGrp="1"/>
          </p:cNvSpPr>
          <p:nvPr/>
        </p:nvSpPr>
        <p:spPr>
          <a:xfrm>
            <a:off x="304800" y="2819400"/>
            <a:ext cx="5791200" cy="12573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CF0"/>
            </a:solidFill>
            <a:prstDash val="solid"/>
          </a:ln>
        </p:spPr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1C1A95AE-4130-4E74-A16C-FBCF354A00B5}"/>
              </a:ext>
            </a:extLst>
          </p:cNvPr>
          <p:cNvSpPr>
            <a:spLocks noGrp="1"/>
          </p:cNvSpPr>
          <p:nvPr/>
        </p:nvSpPr>
        <p:spPr>
          <a:xfrm>
            <a:off x="476250" y="2990850"/>
            <a:ext cx="342900" cy="342900"/>
          </a:xfrm>
          <a:prstGeom prst="rect">
            <a:avLst/>
          </a:prstGeom>
          <a:solidFill>
            <a:srgbClr val="EFF6FF"/>
          </a:solidFill>
          <a:ln w="9525">
            <a:solidFill>
              <a:srgbClr val="E2ECF0"/>
            </a:solidFill>
            <a:prstDash val="solid"/>
          </a:ln>
        </p:spPr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87266692-30A4-4975-A2CE-538AE3ECA5BD}"/>
              </a:ext>
            </a:extLst>
          </p:cNvPr>
          <p:cNvSpPr>
            <a:spLocks noGrp="1"/>
          </p:cNvSpPr>
          <p:nvPr/>
        </p:nvSpPr>
        <p:spPr>
          <a:xfrm>
            <a:off x="914400" y="2990850"/>
            <a:ext cx="50101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Fondo de pozo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58A456D9-214F-42C8-B831-15DF4578D112}"/>
              </a:ext>
            </a:extLst>
          </p:cNvPr>
          <p:cNvSpPr>
            <a:spLocks noGrp="1"/>
          </p:cNvSpPr>
          <p:nvPr/>
        </p:nvSpPr>
        <p:spPr>
          <a:xfrm>
            <a:off x="914400" y="3257550"/>
            <a:ext cx="50101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Profundidad y consistencia por barras.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CFEC80AD-A672-44B9-880B-3DDCF44ADAF6}"/>
              </a:ext>
            </a:extLst>
          </p:cNvPr>
          <p:cNvSpPr>
            <a:spLocks noGrp="1"/>
          </p:cNvSpPr>
          <p:nvPr/>
        </p:nvSpPr>
        <p:spPr>
          <a:xfrm>
            <a:off x="6248400" y="2819400"/>
            <a:ext cx="5791200" cy="12573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CF0"/>
            </a:solidFill>
            <a:prstDash val="solid"/>
          </a:ln>
        </p:spPr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11EC1C57-A53B-4AB4-BCEF-1068D7A84643}"/>
              </a:ext>
            </a:extLst>
          </p:cNvPr>
          <p:cNvSpPr>
            <a:spLocks noGrp="1"/>
          </p:cNvSpPr>
          <p:nvPr/>
        </p:nvSpPr>
        <p:spPr>
          <a:xfrm>
            <a:off x="6419850" y="2990850"/>
            <a:ext cx="342900" cy="342900"/>
          </a:xfrm>
          <a:prstGeom prst="rect">
            <a:avLst/>
          </a:prstGeom>
          <a:solidFill>
            <a:srgbClr val="EFF6FF"/>
          </a:solidFill>
          <a:ln w="9525">
            <a:solidFill>
              <a:srgbClr val="E2ECF0"/>
            </a:solidFill>
            <a:prstDash val="solid"/>
          </a:ln>
        </p:spPr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A02A2A1A-77B8-4C7A-BD9A-9918DFA9EDF9}"/>
              </a:ext>
            </a:extLst>
          </p:cNvPr>
          <p:cNvSpPr>
            <a:spLocks noGrp="1"/>
          </p:cNvSpPr>
          <p:nvPr/>
        </p:nvSpPr>
        <p:spPr>
          <a:xfrm>
            <a:off x="6858000" y="2990850"/>
            <a:ext cx="50101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Regularizacion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AAC26ABD-DBB9-45C2-9EBF-FC80EE562A16}"/>
              </a:ext>
            </a:extLst>
          </p:cNvPr>
          <p:cNvSpPr>
            <a:spLocks noGrp="1"/>
          </p:cNvSpPr>
          <p:nvPr/>
        </p:nvSpPr>
        <p:spPr>
          <a:xfrm>
            <a:off x="6858000" y="3257550"/>
            <a:ext cx="50101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Soportes con formula compensatoria.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2BDC8E1C-8555-40EE-B826-CD87C268EB42}"/>
              </a:ext>
            </a:extLst>
          </p:cNvPr>
          <p:cNvSpPr>
            <a:spLocks noGrp="1"/>
          </p:cNvSpPr>
          <p:nvPr/>
        </p:nvSpPr>
        <p:spPr>
          <a:xfrm>
            <a:off x="304800" y="4210050"/>
            <a:ext cx="5791200" cy="12573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CF0"/>
            </a:solidFill>
            <a:prstDash val="solid"/>
          </a:ln>
        </p:spPr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610DEFF7-6AF7-4250-8AEB-406F066C3C28}"/>
              </a:ext>
            </a:extLst>
          </p:cNvPr>
          <p:cNvSpPr>
            <a:spLocks noGrp="1"/>
          </p:cNvSpPr>
          <p:nvPr/>
        </p:nvSpPr>
        <p:spPr>
          <a:xfrm>
            <a:off x="476250" y="4381500"/>
            <a:ext cx="342900" cy="342900"/>
          </a:xfrm>
          <a:prstGeom prst="rect">
            <a:avLst/>
          </a:prstGeom>
          <a:solidFill>
            <a:srgbClr val="EFF6FF"/>
          </a:solidFill>
          <a:ln w="9525">
            <a:solidFill>
              <a:srgbClr val="E2ECF0"/>
            </a:solidFill>
            <a:prstDash val="solid"/>
          </a:ln>
        </p:spPr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49221C08-4108-4610-8749-3C5F028F19AD}"/>
              </a:ext>
            </a:extLst>
          </p:cNvPr>
          <p:cNvSpPr>
            <a:spLocks noGrp="1"/>
          </p:cNvSpPr>
          <p:nvPr/>
        </p:nvSpPr>
        <p:spPr>
          <a:xfrm>
            <a:off x="914400" y="4381500"/>
            <a:ext cx="50101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Metraje perforado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5E137D54-0F75-4821-A47E-3B9AC5E3D279}"/>
              </a:ext>
            </a:extLst>
          </p:cNvPr>
          <p:cNvSpPr>
            <a:spLocks noGrp="1"/>
          </p:cNvSpPr>
          <p:nvPr/>
        </p:nvSpPr>
        <p:spPr>
          <a:xfrm>
            <a:off x="914400" y="4648200"/>
            <a:ext cx="50101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Por contras y por fondos (validacion).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314F7502-7F18-40E2-97CF-5C2FA20DA30A}"/>
              </a:ext>
            </a:extLst>
          </p:cNvPr>
          <p:cNvSpPr>
            <a:spLocks noGrp="1"/>
          </p:cNvSpPr>
          <p:nvPr/>
        </p:nvSpPr>
        <p:spPr>
          <a:xfrm>
            <a:off x="304800" y="5524500"/>
            <a:ext cx="11582400" cy="666750"/>
          </a:xfrm>
          <a:prstGeom prst="rect">
            <a:avLst/>
          </a:prstGeom>
          <a:solidFill>
            <a:srgbClr val="EFF6FF"/>
          </a:solidFill>
          <a:ln w="9525">
            <a:solidFill>
              <a:srgbClr val="E2ECF0"/>
            </a:solidFill>
            <a:prstDash val="solid"/>
          </a:ln>
        </p:spPr>
      </p:sp>
      <p:pic>
        <p:nvPicPr>
          <p:cNvPr id="26" name="Gráfico 2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533400" y="1657350"/>
            <a:ext cx="228600" cy="228600"/>
          </a:xfrm>
          <a:prstGeom prst="rect">
            <a:avLst/>
          </a:prstGeom>
        </p:spPr>
      </p:pic>
      <p:pic>
        <p:nvPicPr>
          <p:cNvPr id="27" name="Gráfico 2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6477000" y="1657350"/>
            <a:ext cx="228600" cy="228600"/>
          </a:xfrm>
          <a:prstGeom prst="rect">
            <a:avLst/>
          </a:prstGeom>
        </p:spPr>
      </p:pic>
      <p:pic>
        <p:nvPicPr>
          <p:cNvPr id="28" name="Gráfico 2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533400" y="3048000"/>
            <a:ext cx="228600" cy="228600"/>
          </a:xfrm>
          <a:prstGeom prst="rect">
            <a:avLst/>
          </a:prstGeom>
        </p:spPr>
      </p:pic>
      <p:pic>
        <p:nvPicPr>
          <p:cNvPr id="29" name="Gráfico 2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6477000" y="3048000"/>
            <a:ext cx="228600" cy="228600"/>
          </a:xfrm>
          <a:prstGeom prst="rect">
            <a:avLst/>
          </a:prstGeom>
        </p:spPr>
      </p:pic>
      <p:pic>
        <p:nvPicPr>
          <p:cNvPr id="30" name="Gráfico 2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533400" y="4438650"/>
            <a:ext cx="228600" cy="228600"/>
          </a:xfrm>
          <a:prstGeom prst="rect">
            <a:avLst/>
          </a:prstGeom>
        </p:spPr>
      </p:pic>
      <p:pic>
        <p:nvPicPr>
          <p:cNvPr id="31" name="Gráfico 3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495300" y="5695950"/>
            <a:ext cx="209550" cy="209550"/>
          </a:xfrm>
          <a:prstGeom prst="rect">
            <a:avLst/>
          </a:prstGeom>
        </p:spPr>
      </p:pic>
      <p:sp>
        <p:nvSpPr>
          <p:cNvPr id="32" name="Rectángulo 31">
            <a:extLst>
              <a:ext uri="{FF2B5EF4-FFF2-40B4-BE49-F238E27FC236}">
                <a16:creationId xmlns:a16="http://schemas.microsoft.com/office/drawing/2014/main" id="{2851A16B-7827-4120-88DC-ACD69EE43F20}"/>
              </a:ext>
            </a:extLst>
          </p:cNvPr>
          <p:cNvSpPr>
            <a:spLocks noGrp="1"/>
          </p:cNvSpPr>
          <p:nvPr/>
        </p:nvSpPr>
        <p:spPr>
          <a:xfrm>
            <a:off x="781050" y="5638800"/>
            <a:ext cx="10858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Las formulas se muestran bajo el boton "Formula" dentro de la vista, con definiciones de variables.</a:t>
            </a:r>
          </a:p>
          <a:p>
            <a:pPr algn="l">
              <a:defRPr sz="96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Esto evita saturar pantalla, pero mantiene trazabilidad de criterio.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6934CFC2-F792-40D7-8F38-F16B1720B23E}"/>
              </a:ext>
            </a:extLst>
          </p:cNvPr>
          <p:cNvSpPr>
            <a:spLocks noGrp="1"/>
          </p:cNvSpPr>
          <p:nvPr/>
        </p:nvSpPr>
        <p:spPr>
          <a:xfrm>
            <a:off x="190500" y="6438900"/>
            <a:ext cx="11811000" cy="9525"/>
          </a:xfrm>
          <a:prstGeom prst="rect">
            <a:avLst/>
          </a:prstGeom>
          <a:solidFill>
            <a:srgbClr val="E2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122E2E32-31EA-4D4E-8C64-B02C121601E6}"/>
              </a:ext>
            </a:extLst>
          </p:cNvPr>
          <p:cNvSpPr>
            <a:spLocks noGrp="1"/>
          </p:cNvSpPr>
          <p:nvPr/>
        </p:nvSpPr>
        <p:spPr>
          <a:xfrm>
            <a:off x="304800" y="6515100"/>
            <a:ext cx="495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Aprender a Controlar • Sondajes</a:t>
            </a: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64B2A91A-FBBF-4971-9D5C-88FEA9261D6F}"/>
              </a:ext>
            </a:extLst>
          </p:cNvPr>
          <p:cNvSpPr>
            <a:spLocks noGrp="1"/>
          </p:cNvSpPr>
          <p:nvPr/>
        </p:nvSpPr>
        <p:spPr>
          <a:xfrm>
            <a:off x="9144000" y="6515100"/>
            <a:ext cx="2743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63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Herramientas</a:t>
            </a:r>
          </a:p>
        </p:txBody>
      </p:sp>
    </p:spTree>
    <p:extLst>
      <p:ext uri="{BB962C8B-B14F-4D97-AF65-F5344CB8AC3E}">
        <p14:creationId xmlns:p14="http://schemas.microsoft.com/office/powerpoint/2010/main" val="16992114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ángulo 33">
            <a:extLst>
              <a:ext uri="{FF2B5EF4-FFF2-40B4-BE49-F238E27FC236}">
                <a16:creationId xmlns:a16="http://schemas.microsoft.com/office/drawing/2014/main" id="{58E7AB54-45CB-4BE7-8C54-68BB5693725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ADF16C8-D5E4-4789-A1D8-F5D4C5A7FE9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3B71C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49DCE11-7AF8-4016-B0FF-47E0F1839F4E}"/>
              </a:ext>
            </a:extLst>
          </p:cNvPr>
          <p:cNvSpPr>
            <a:spLocks noGrp="1"/>
          </p:cNvSpPr>
          <p:nvPr/>
        </p:nvSpPr>
        <p:spPr>
          <a:xfrm>
            <a:off x="304800" y="228600"/>
            <a:ext cx="115824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Checklist y Seguridad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1AD35DB-FBCC-4B99-A967-C0533108111C}"/>
              </a:ext>
            </a:extLst>
          </p:cNvPr>
          <p:cNvSpPr>
            <a:spLocks noGrp="1"/>
          </p:cNvSpPr>
          <p:nvPr/>
        </p:nvSpPr>
        <p:spPr>
          <a:xfrm>
            <a:off x="304800" y="666750"/>
            <a:ext cx="11582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Refuerzo de controles criticos: orden, consistencia y disciplina operacional.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1BE81AD-1764-4B8F-B7CF-1BF3A75ABE53}"/>
              </a:ext>
            </a:extLst>
          </p:cNvPr>
          <p:cNvSpPr>
            <a:spLocks noGrp="1"/>
          </p:cNvSpPr>
          <p:nvPr/>
        </p:nvSpPr>
        <p:spPr>
          <a:xfrm>
            <a:off x="304800" y="1428750"/>
            <a:ext cx="571500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CF0"/>
            </a:solidFill>
            <a:prstDash val="solid"/>
          </a:ln>
        </p:spPr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31A34B2-FF77-44D6-AAB9-576BA01128FF}"/>
              </a:ext>
            </a:extLst>
          </p:cNvPr>
          <p:cNvSpPr>
            <a:spLocks noGrp="1"/>
          </p:cNvSpPr>
          <p:nvPr/>
        </p:nvSpPr>
        <p:spPr>
          <a:xfrm>
            <a:off x="476250" y="1600200"/>
            <a:ext cx="342900" cy="342900"/>
          </a:xfrm>
          <a:prstGeom prst="rect">
            <a:avLst/>
          </a:prstGeom>
          <a:solidFill>
            <a:srgbClr val="EFF6FF"/>
          </a:solidFill>
          <a:ln w="9525">
            <a:solidFill>
              <a:srgbClr val="E2ECF0"/>
            </a:solidFill>
            <a:prstDash val="solid"/>
          </a:ln>
        </p:spPr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8284AD1-3027-4106-AA0D-681D5E951D62}"/>
              </a:ext>
            </a:extLst>
          </p:cNvPr>
          <p:cNvSpPr>
            <a:spLocks noGrp="1"/>
          </p:cNvSpPr>
          <p:nvPr/>
        </p:nvSpPr>
        <p:spPr>
          <a:xfrm>
            <a:off x="914400" y="1600200"/>
            <a:ext cx="4933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Paso a paso del turno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4FD5652-5971-4323-B2B3-95115ECF38B4}"/>
              </a:ext>
            </a:extLst>
          </p:cNvPr>
          <p:cNvSpPr>
            <a:spLocks noGrp="1"/>
          </p:cNvSpPr>
          <p:nvPr/>
        </p:nvSpPr>
        <p:spPr>
          <a:xfrm>
            <a:off x="914400" y="1866900"/>
            <a:ext cx="4933950" cy="1714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Checklist diario para guiar el control.</a:t>
            </a:r>
          </a:p>
          <a:p>
            <a:pPr algn="l">
              <a:defRPr sz="96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Reduce omisiones en cambio de turno.</a:t>
            </a:r>
          </a:p>
          <a:p>
            <a:pPr algn="l">
              <a:defRPr sz="96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Soporta supervision y coaching en terreno.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29D713E-ADBE-4DA1-B831-53C1F4621900}"/>
              </a:ext>
            </a:extLst>
          </p:cNvPr>
          <p:cNvSpPr>
            <a:spLocks noGrp="1"/>
          </p:cNvSpPr>
          <p:nvPr/>
        </p:nvSpPr>
        <p:spPr>
          <a:xfrm>
            <a:off x="6172200" y="1428750"/>
            <a:ext cx="571500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CF0"/>
            </a:solidFill>
            <a:prstDash val="solid"/>
          </a:ln>
        </p:spPr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3DBF4119-1D64-455B-A8D3-15143ED57786}"/>
              </a:ext>
            </a:extLst>
          </p:cNvPr>
          <p:cNvSpPr>
            <a:spLocks noGrp="1"/>
          </p:cNvSpPr>
          <p:nvPr/>
        </p:nvSpPr>
        <p:spPr>
          <a:xfrm>
            <a:off x="6343650" y="1600200"/>
            <a:ext cx="342900" cy="342900"/>
          </a:xfrm>
          <a:prstGeom prst="rect">
            <a:avLst/>
          </a:prstGeom>
          <a:solidFill>
            <a:srgbClr val="EFF6FF"/>
          </a:solidFill>
          <a:ln w="9525">
            <a:solidFill>
              <a:srgbClr val="E2ECF0"/>
            </a:solidFill>
            <a:prstDash val="solid"/>
          </a:ln>
        </p:spPr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55C31815-04E2-4060-BB8E-8ECB2B2E78B4}"/>
              </a:ext>
            </a:extLst>
          </p:cNvPr>
          <p:cNvSpPr>
            <a:spLocks noGrp="1"/>
          </p:cNvSpPr>
          <p:nvPr/>
        </p:nvSpPr>
        <p:spPr>
          <a:xfrm>
            <a:off x="6781800" y="1600200"/>
            <a:ext cx="4933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Seguridad y riesgos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827E1FF-FDC0-413D-B77C-0B0458707CAC}"/>
              </a:ext>
            </a:extLst>
          </p:cNvPr>
          <p:cNvSpPr>
            <a:spLocks noGrp="1"/>
          </p:cNvSpPr>
          <p:nvPr/>
        </p:nvSpPr>
        <p:spPr>
          <a:xfrm>
            <a:off x="6781800" y="1866900"/>
            <a:ext cx="4933950" cy="1714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Recordatorios de EPP y riesgos criticos.</a:t>
            </a:r>
          </a:p>
          <a:p>
            <a:pPr algn="l">
              <a:defRPr sz="96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Enfoque practico: que se debe verificar y reportar.</a:t>
            </a:r>
          </a:p>
          <a:p>
            <a:pPr algn="l">
              <a:defRPr sz="96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Material de apoyo para induccion y refresco.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60E7F700-EE5E-49D8-918B-10BB054D6C6E}"/>
              </a:ext>
            </a:extLst>
          </p:cNvPr>
          <p:cNvSpPr>
            <a:spLocks noGrp="1"/>
          </p:cNvSpPr>
          <p:nvPr/>
        </p:nvSpPr>
        <p:spPr>
          <a:xfrm>
            <a:off x="304800" y="4000500"/>
            <a:ext cx="11582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3 puntos de control en terreno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AE7C3D41-5018-4F70-BB96-052420165732}"/>
              </a:ext>
            </a:extLst>
          </p:cNvPr>
          <p:cNvSpPr>
            <a:spLocks noGrp="1"/>
          </p:cNvSpPr>
          <p:nvPr/>
        </p:nvSpPr>
        <p:spPr>
          <a:xfrm>
            <a:off x="304800" y="4362450"/>
            <a:ext cx="3733800" cy="17145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CF0"/>
            </a:solidFill>
            <a:prstDash val="solid"/>
          </a:ln>
        </p:spPr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5C0120B9-19A7-42E6-939A-B350A0FA2966}"/>
              </a:ext>
            </a:extLst>
          </p:cNvPr>
          <p:cNvSpPr>
            <a:spLocks noGrp="1"/>
          </p:cNvSpPr>
          <p:nvPr/>
        </p:nvSpPr>
        <p:spPr>
          <a:xfrm>
            <a:off x="476250" y="4533900"/>
            <a:ext cx="342900" cy="342900"/>
          </a:xfrm>
          <a:prstGeom prst="rect">
            <a:avLst/>
          </a:prstGeom>
          <a:solidFill>
            <a:srgbClr val="EFF6FF"/>
          </a:solidFill>
          <a:ln w="9525">
            <a:solidFill>
              <a:srgbClr val="E2ECF0"/>
            </a:solidFill>
            <a:prstDash val="solid"/>
          </a:ln>
        </p:spPr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EF9E332A-BBB6-4FAE-992F-7E8796A10F51}"/>
              </a:ext>
            </a:extLst>
          </p:cNvPr>
          <p:cNvSpPr>
            <a:spLocks noGrp="1"/>
          </p:cNvSpPr>
          <p:nvPr/>
        </p:nvSpPr>
        <p:spPr>
          <a:xfrm>
            <a:off x="914400" y="4533900"/>
            <a:ext cx="2952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Inicio de jornada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41DB1985-4CBB-4ADC-A894-C88F4908FA5D}"/>
              </a:ext>
            </a:extLst>
          </p:cNvPr>
          <p:cNvSpPr>
            <a:spLocks noGrp="1"/>
          </p:cNvSpPr>
          <p:nvPr/>
        </p:nvSpPr>
        <p:spPr>
          <a:xfrm>
            <a:off x="914400" y="4800600"/>
            <a:ext cx="295275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EPP, zona segregada, condiciones del equipo.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AA78DE2E-CCBD-49FC-8D4A-EC21763FD1EA}"/>
              </a:ext>
            </a:extLst>
          </p:cNvPr>
          <p:cNvSpPr>
            <a:spLocks noGrp="1"/>
          </p:cNvSpPr>
          <p:nvPr/>
        </p:nvSpPr>
        <p:spPr>
          <a:xfrm>
            <a:off x="4191000" y="4362450"/>
            <a:ext cx="3733800" cy="17145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CF0"/>
            </a:solidFill>
            <a:prstDash val="solid"/>
          </a:ln>
        </p:spPr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0E8DB155-AC0B-4911-86A5-0B132112D62B}"/>
              </a:ext>
            </a:extLst>
          </p:cNvPr>
          <p:cNvSpPr>
            <a:spLocks noGrp="1"/>
          </p:cNvSpPr>
          <p:nvPr/>
        </p:nvSpPr>
        <p:spPr>
          <a:xfrm>
            <a:off x="4362450" y="4533900"/>
            <a:ext cx="342900" cy="342900"/>
          </a:xfrm>
          <a:prstGeom prst="rect">
            <a:avLst/>
          </a:prstGeom>
          <a:solidFill>
            <a:srgbClr val="EFF6FF"/>
          </a:solidFill>
          <a:ln w="9525">
            <a:solidFill>
              <a:srgbClr val="E2ECF0"/>
            </a:solidFill>
            <a:prstDash val="solid"/>
          </a:ln>
        </p:spPr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01FA6A2F-4C9E-469D-B131-BB546E9ECE76}"/>
              </a:ext>
            </a:extLst>
          </p:cNvPr>
          <p:cNvSpPr>
            <a:spLocks noGrp="1"/>
          </p:cNvSpPr>
          <p:nvPr/>
        </p:nvSpPr>
        <p:spPr>
          <a:xfrm>
            <a:off x="4800600" y="4533900"/>
            <a:ext cx="2952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Durante la corrida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37FDC350-09F1-4B4C-8462-0F5CB69F84A3}"/>
              </a:ext>
            </a:extLst>
          </p:cNvPr>
          <p:cNvSpPr>
            <a:spLocks noGrp="1"/>
          </p:cNvSpPr>
          <p:nvPr/>
        </p:nvSpPr>
        <p:spPr>
          <a:xfrm>
            <a:off x="4800600" y="4800600"/>
            <a:ext cx="295275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Criterios de medicion, recuperacion, regularizado.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DAA7259C-6364-4521-9593-17F8F6641BB3}"/>
              </a:ext>
            </a:extLst>
          </p:cNvPr>
          <p:cNvSpPr>
            <a:spLocks noGrp="1"/>
          </p:cNvSpPr>
          <p:nvPr/>
        </p:nvSpPr>
        <p:spPr>
          <a:xfrm>
            <a:off x="8077200" y="4362450"/>
            <a:ext cx="3733800" cy="17145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CF0"/>
            </a:solidFill>
            <a:prstDash val="solid"/>
          </a:ln>
        </p:spPr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3F265918-A086-46A9-B03F-F21172091C4B}"/>
              </a:ext>
            </a:extLst>
          </p:cNvPr>
          <p:cNvSpPr>
            <a:spLocks noGrp="1"/>
          </p:cNvSpPr>
          <p:nvPr/>
        </p:nvSpPr>
        <p:spPr>
          <a:xfrm>
            <a:off x="8248650" y="4533900"/>
            <a:ext cx="342900" cy="342900"/>
          </a:xfrm>
          <a:prstGeom prst="rect">
            <a:avLst/>
          </a:prstGeom>
          <a:solidFill>
            <a:srgbClr val="EFF6FF"/>
          </a:solidFill>
          <a:ln w="9525">
            <a:solidFill>
              <a:srgbClr val="E2ECF0"/>
            </a:solidFill>
            <a:prstDash val="solid"/>
          </a:ln>
        </p:spPr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FCCE83D8-9985-41EA-92F7-C452DCF3B5C4}"/>
              </a:ext>
            </a:extLst>
          </p:cNvPr>
          <p:cNvSpPr>
            <a:spLocks noGrp="1"/>
          </p:cNvSpPr>
          <p:nvPr/>
        </p:nvSpPr>
        <p:spPr>
          <a:xfrm>
            <a:off x="8686800" y="4533900"/>
            <a:ext cx="2952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Cierre de turno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0E5DC8E7-5854-4CD0-A5D0-D82A3A4708E6}"/>
              </a:ext>
            </a:extLst>
          </p:cNvPr>
          <p:cNvSpPr>
            <a:spLocks noGrp="1"/>
          </p:cNvSpPr>
          <p:nvPr/>
        </p:nvSpPr>
        <p:spPr>
          <a:xfrm>
            <a:off x="8686800" y="4800600"/>
            <a:ext cx="295275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Reportabilidad minima y respaldo visual.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3F513962-0C3F-485B-B1A4-D87413656F43}"/>
              </a:ext>
            </a:extLst>
          </p:cNvPr>
          <p:cNvSpPr>
            <a:spLocks noGrp="1"/>
          </p:cNvSpPr>
          <p:nvPr/>
        </p:nvSpPr>
        <p:spPr>
          <a:xfrm>
            <a:off x="190500" y="6438900"/>
            <a:ext cx="11811000" cy="9525"/>
          </a:xfrm>
          <a:prstGeom prst="rect">
            <a:avLst/>
          </a:prstGeom>
          <a:solidFill>
            <a:srgbClr val="E2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68CC7A90-8549-4DC5-B1EC-D54774561158}"/>
              </a:ext>
            </a:extLst>
          </p:cNvPr>
          <p:cNvSpPr>
            <a:spLocks noGrp="1"/>
          </p:cNvSpPr>
          <p:nvPr/>
        </p:nvSpPr>
        <p:spPr>
          <a:xfrm>
            <a:off x="304800" y="6515100"/>
            <a:ext cx="495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Aprender a Controlar • Sondajes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A4811612-DB78-4D26-87DD-3F21CD8E3E97}"/>
              </a:ext>
            </a:extLst>
          </p:cNvPr>
          <p:cNvSpPr>
            <a:spLocks noGrp="1"/>
          </p:cNvSpPr>
          <p:nvPr/>
        </p:nvSpPr>
        <p:spPr>
          <a:xfrm>
            <a:off x="9144000" y="6515100"/>
            <a:ext cx="2743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63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Operacion</a:t>
            </a:r>
          </a:p>
        </p:txBody>
      </p:sp>
      <p:pic>
        <p:nvPicPr>
          <p:cNvPr id="29" name="Gráfico 2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533400" y="1657350"/>
            <a:ext cx="228600" cy="228600"/>
          </a:xfrm>
          <a:prstGeom prst="rect">
            <a:avLst/>
          </a:prstGeom>
        </p:spPr>
      </p:pic>
      <p:pic>
        <p:nvPicPr>
          <p:cNvPr id="30" name="Gráfico 2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6400800" y="1657350"/>
            <a:ext cx="228600" cy="228600"/>
          </a:xfrm>
          <a:prstGeom prst="rect">
            <a:avLst/>
          </a:prstGeom>
        </p:spPr>
      </p:pic>
      <p:pic>
        <p:nvPicPr>
          <p:cNvPr id="31" name="Gráfico 3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533400" y="4591050"/>
            <a:ext cx="228600" cy="228600"/>
          </a:xfrm>
          <a:prstGeom prst="rect">
            <a:avLst/>
          </a:prstGeom>
        </p:spPr>
      </p:pic>
      <p:pic>
        <p:nvPicPr>
          <p:cNvPr id="32" name="Gráfico 3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4419600" y="4591050"/>
            <a:ext cx="228600" cy="228600"/>
          </a:xfrm>
          <a:prstGeom prst="rect">
            <a:avLst/>
          </a:prstGeom>
        </p:spPr>
      </p:pic>
      <p:pic>
        <p:nvPicPr>
          <p:cNvPr id="33" name="Gráfico 3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8305800" y="4591050"/>
            <a:ext cx="228600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655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ángulo 21">
            <a:extLst>
              <a:ext uri="{FF2B5EF4-FFF2-40B4-BE49-F238E27FC236}">
                <a16:creationId xmlns:a16="http://schemas.microsoft.com/office/drawing/2014/main" id="{DD06272F-E2A3-449D-9788-A1FA3090F20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890F440-D856-4E3C-95D1-7C02CF793AD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3B71C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9D089C7-2106-4B6C-A9CD-40FB25C79D10}"/>
              </a:ext>
            </a:extLst>
          </p:cNvPr>
          <p:cNvSpPr>
            <a:spLocks noGrp="1"/>
          </p:cNvSpPr>
          <p:nvPr/>
        </p:nvSpPr>
        <p:spPr>
          <a:xfrm>
            <a:off x="304800" y="228600"/>
            <a:ext cx="115824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Evidencia Visual y Ayuda Memoria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BE3D5085-30D2-4760-B06E-97A94452F0C2}"/>
              </a:ext>
            </a:extLst>
          </p:cNvPr>
          <p:cNvSpPr>
            <a:spLocks noGrp="1"/>
          </p:cNvSpPr>
          <p:nvPr/>
        </p:nvSpPr>
        <p:spPr>
          <a:xfrm>
            <a:off x="304800" y="666750"/>
            <a:ext cx="11582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Fotografiar bandejas para respaldo y estandar de registro.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9D0DFDC-A97B-4B68-8FED-46BFDB93FD18}"/>
              </a:ext>
            </a:extLst>
          </p:cNvPr>
          <p:cNvSpPr>
            <a:spLocks noGrp="1"/>
          </p:cNvSpPr>
          <p:nvPr/>
        </p:nvSpPr>
        <p:spPr>
          <a:xfrm>
            <a:off x="304800" y="1428750"/>
            <a:ext cx="5715000" cy="20955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CF0"/>
            </a:solidFill>
            <a:prstDash val="solid"/>
          </a:ln>
        </p:spPr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179CA700-D09F-4646-A225-3120A84C1C9C}"/>
              </a:ext>
            </a:extLst>
          </p:cNvPr>
          <p:cNvSpPr>
            <a:spLocks noGrp="1"/>
          </p:cNvSpPr>
          <p:nvPr/>
        </p:nvSpPr>
        <p:spPr>
          <a:xfrm>
            <a:off x="476250" y="1600200"/>
            <a:ext cx="342900" cy="342900"/>
          </a:xfrm>
          <a:prstGeom prst="rect">
            <a:avLst/>
          </a:prstGeom>
          <a:solidFill>
            <a:srgbClr val="EFF6FF"/>
          </a:solidFill>
          <a:ln w="9525">
            <a:solidFill>
              <a:srgbClr val="E2ECF0"/>
            </a:solidFill>
            <a:prstDash val="solid"/>
          </a:ln>
        </p:spPr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0A1350E-A88E-4C75-9A7F-50AF81032A1C}"/>
              </a:ext>
            </a:extLst>
          </p:cNvPr>
          <p:cNvSpPr>
            <a:spLocks noGrp="1"/>
          </p:cNvSpPr>
          <p:nvPr/>
        </p:nvSpPr>
        <p:spPr>
          <a:xfrm>
            <a:off x="914400" y="1600200"/>
            <a:ext cx="4933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Camara de bandejas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8C7216A-B881-402C-AFB5-A46948355073}"/>
              </a:ext>
            </a:extLst>
          </p:cNvPr>
          <p:cNvSpPr>
            <a:spLocks noGrp="1"/>
          </p:cNvSpPr>
          <p:nvPr/>
        </p:nvSpPr>
        <p:spPr>
          <a:xfrm>
            <a:off x="914400" y="1866900"/>
            <a:ext cx="4933950" cy="1524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Flujo simple para tomar fotos.</a:t>
            </a:r>
          </a:p>
          <a:p>
            <a:pPr algn="l">
              <a:defRPr sz="96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Apoyo visual para rotulacion y orden.</a:t>
            </a:r>
          </a:p>
          <a:p>
            <a:pPr algn="l">
              <a:defRPr sz="96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Util para auditorias y trazabilidad.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2A14AA36-69AA-4EE5-B970-ADB4FBB528D5}"/>
              </a:ext>
            </a:extLst>
          </p:cNvPr>
          <p:cNvSpPr>
            <a:spLocks noGrp="1"/>
          </p:cNvSpPr>
          <p:nvPr/>
        </p:nvSpPr>
        <p:spPr>
          <a:xfrm>
            <a:off x="6172200" y="1428750"/>
            <a:ext cx="5715000" cy="20955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CF0"/>
            </a:solidFill>
            <a:prstDash val="solid"/>
          </a:ln>
        </p:spPr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2499CB2C-F17B-4713-A4F8-DBBD201D20AE}"/>
              </a:ext>
            </a:extLst>
          </p:cNvPr>
          <p:cNvSpPr>
            <a:spLocks noGrp="1"/>
          </p:cNvSpPr>
          <p:nvPr/>
        </p:nvSpPr>
        <p:spPr>
          <a:xfrm>
            <a:off x="6343650" y="1600200"/>
            <a:ext cx="342900" cy="342900"/>
          </a:xfrm>
          <a:prstGeom prst="rect">
            <a:avLst/>
          </a:prstGeom>
          <a:solidFill>
            <a:srgbClr val="EFF6FF"/>
          </a:solidFill>
          <a:ln w="9525">
            <a:solidFill>
              <a:srgbClr val="E2ECF0"/>
            </a:solidFill>
            <a:prstDash val="solid"/>
          </a:ln>
        </p:spPr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963A0937-AF7B-4B41-9EA3-CF02FAD3B46C}"/>
              </a:ext>
            </a:extLst>
          </p:cNvPr>
          <p:cNvSpPr>
            <a:spLocks noGrp="1"/>
          </p:cNvSpPr>
          <p:nvPr/>
        </p:nvSpPr>
        <p:spPr>
          <a:xfrm>
            <a:off x="6781800" y="1600200"/>
            <a:ext cx="4933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Rotulacion y reportabilidad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FCD2181-940B-4081-84DB-068EE5C74141}"/>
              </a:ext>
            </a:extLst>
          </p:cNvPr>
          <p:cNvSpPr>
            <a:spLocks noGrp="1"/>
          </p:cNvSpPr>
          <p:nvPr/>
        </p:nvSpPr>
        <p:spPr>
          <a:xfrm>
            <a:off x="6781800" y="1866900"/>
            <a:ext cx="4933950" cy="1524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Secciones dedicadas con criterios minimos.</a:t>
            </a:r>
          </a:p>
          <a:p>
            <a:pPr algn="l">
              <a:defRPr sz="96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Reduce variabilidad entre turnos y equipos.</a:t>
            </a:r>
          </a:p>
          <a:p>
            <a:pPr algn="l">
              <a:defRPr sz="96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para estandarizar entregables.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E3080EE9-581D-4EBE-BB99-6572371580D2}"/>
              </a:ext>
            </a:extLst>
          </p:cNvPr>
          <p:cNvSpPr>
            <a:spLocks noGrp="1"/>
          </p:cNvSpPr>
          <p:nvPr/>
        </p:nvSpPr>
        <p:spPr>
          <a:xfrm>
            <a:off x="304800" y="3848100"/>
            <a:ext cx="11582400" cy="23431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CF0"/>
            </a:solidFill>
            <a:prstDash val="solid"/>
          </a:ln>
        </p:spPr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FA91C95F-94F2-4BC3-912A-BEDDA8D7DFEA}"/>
              </a:ext>
            </a:extLst>
          </p:cNvPr>
          <p:cNvSpPr>
            <a:spLocks noGrp="1"/>
          </p:cNvSpPr>
          <p:nvPr/>
        </p:nvSpPr>
        <p:spPr>
          <a:xfrm>
            <a:off x="495300" y="4038600"/>
            <a:ext cx="495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Vista de navegacion (ejemplo)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3B4EB219-4002-4DF6-B978-9F0FCEA79A03}"/>
              </a:ext>
            </a:extLst>
          </p:cNvPr>
          <p:cNvSpPr>
            <a:spLocks noGrp="1"/>
          </p:cNvSpPr>
          <p:nvPr/>
        </p:nvSpPr>
        <p:spPr>
          <a:xfrm>
            <a:off x="495300" y="4305300"/>
            <a:ext cx="4953000" cy="1428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En iPad y Android, el contenido se mantiene centrado</a:t>
            </a:r>
          </a:p>
          <a:p>
            <a:pPr algn="l">
              <a:defRPr sz="96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y con separaciones estables para preservar simetria.</a:t>
            </a:r>
          </a:p>
          <a:p>
            <a:endParaRPr sz="960" b="0">
              <a:solidFill>
                <a:srgbClr val="475569"/>
              </a:solidFill>
              <a:latin typeface="Aptos"/>
              <a:ea typeface="Aptos"/>
              <a:cs typeface="Aptos"/>
            </a:endParaRPr>
          </a:p>
          <a:p>
            <a:pPr algn="l">
              <a:defRPr sz="96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Objetivo: que el usuario vea lo mismo en cualquier equipo.</a:t>
            </a:r>
          </a:p>
        </p:txBody>
      </p:sp>
      <p:pic>
        <p:nvPicPr>
          <p:cNvPr id="16" name="Gráfico 1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533400" y="1657350"/>
            <a:ext cx="228600" cy="228600"/>
          </a:xfrm>
          <a:prstGeom prst="rect">
            <a:avLst/>
          </a:prstGeom>
        </p:spPr>
      </p:pic>
      <p:pic>
        <p:nvPicPr>
          <p:cNvPr id="17" name="Gráfico 1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6400800" y="1657350"/>
            <a:ext cx="228600" cy="228600"/>
          </a:xfrm>
          <a:prstGeom prst="rect">
            <a:avLst/>
          </a:prstGeom>
        </p:spPr>
      </p:pic>
      <p:sp>
        <p:nvSpPr>
          <p:cNvPr id="19" name="Rectángulo 18">
            <a:extLst>
              <a:ext uri="{FF2B5EF4-FFF2-40B4-BE49-F238E27FC236}">
                <a16:creationId xmlns:a16="http://schemas.microsoft.com/office/drawing/2014/main" id="{6A8E8B76-ACF0-40CD-841D-7BC83282ED9B}"/>
              </a:ext>
            </a:extLst>
          </p:cNvPr>
          <p:cNvSpPr>
            <a:spLocks noGrp="1"/>
          </p:cNvSpPr>
          <p:nvPr/>
        </p:nvSpPr>
        <p:spPr>
          <a:xfrm>
            <a:off x="190500" y="6438900"/>
            <a:ext cx="11811000" cy="9525"/>
          </a:xfrm>
          <a:prstGeom prst="rect">
            <a:avLst/>
          </a:prstGeom>
          <a:solidFill>
            <a:srgbClr val="E2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AB876F71-79CC-4CB3-8B77-682585E414A2}"/>
              </a:ext>
            </a:extLst>
          </p:cNvPr>
          <p:cNvSpPr>
            <a:spLocks noGrp="1"/>
          </p:cNvSpPr>
          <p:nvPr/>
        </p:nvSpPr>
        <p:spPr>
          <a:xfrm>
            <a:off x="304800" y="6515100"/>
            <a:ext cx="495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Aprender a Controlar • Sondajes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828207CF-0664-4E44-AF55-342791D76912}"/>
              </a:ext>
            </a:extLst>
          </p:cNvPr>
          <p:cNvSpPr>
            <a:spLocks noGrp="1"/>
          </p:cNvSpPr>
          <p:nvPr/>
        </p:nvSpPr>
        <p:spPr>
          <a:xfrm>
            <a:off x="9144000" y="6515100"/>
            <a:ext cx="2743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63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Evidencia</a:t>
            </a:r>
          </a:p>
        </p:txBody>
      </p:sp>
    </p:spTree>
    <p:extLst>
      <p:ext uri="{BB962C8B-B14F-4D97-AF65-F5344CB8AC3E}">
        <p14:creationId xmlns:p14="http://schemas.microsoft.com/office/powerpoint/2010/main" val="11855684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ángulo 39">
            <a:extLst>
              <a:ext uri="{FF2B5EF4-FFF2-40B4-BE49-F238E27FC236}">
                <a16:creationId xmlns:a16="http://schemas.microsoft.com/office/drawing/2014/main" id="{8A10FBE4-71B7-4CD7-8FCD-5ACE6ECAEA2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99F5CF6-8C04-4771-B8D5-03AAB7CA988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3B71C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F9F4DBC-460C-4D96-945E-C39CC0D49FBB}"/>
              </a:ext>
            </a:extLst>
          </p:cNvPr>
          <p:cNvSpPr>
            <a:spLocks noGrp="1"/>
          </p:cNvSpPr>
          <p:nvPr/>
        </p:nvSpPr>
        <p:spPr>
          <a:xfrm>
            <a:off x="304800" y="228600"/>
            <a:ext cx="115824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Seguridad de Acceso y Operacion Offline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D6F93FA-C860-48B9-A908-591DDD6E15BE}"/>
              </a:ext>
            </a:extLst>
          </p:cNvPr>
          <p:cNvSpPr>
            <a:spLocks noGrp="1"/>
          </p:cNvSpPr>
          <p:nvPr/>
        </p:nvSpPr>
        <p:spPr>
          <a:xfrm>
            <a:off x="304800" y="666750"/>
            <a:ext cx="11582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Protecciones basicas para uso en equipos personales o compartidos.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F9EE2BE-43AE-459D-A600-B9D3C080208A}"/>
              </a:ext>
            </a:extLst>
          </p:cNvPr>
          <p:cNvSpPr>
            <a:spLocks noGrp="1"/>
          </p:cNvSpPr>
          <p:nvPr/>
        </p:nvSpPr>
        <p:spPr>
          <a:xfrm>
            <a:off x="304800" y="1428750"/>
            <a:ext cx="5715000" cy="20002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CF0"/>
            </a:solidFill>
            <a:prstDash val="solid"/>
          </a:ln>
        </p:spPr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CDC1303-A3CC-4979-A80C-5E76D60DF1AA}"/>
              </a:ext>
            </a:extLst>
          </p:cNvPr>
          <p:cNvSpPr>
            <a:spLocks noGrp="1"/>
          </p:cNvSpPr>
          <p:nvPr/>
        </p:nvSpPr>
        <p:spPr>
          <a:xfrm>
            <a:off x="476250" y="1600200"/>
            <a:ext cx="342900" cy="342900"/>
          </a:xfrm>
          <a:prstGeom prst="rect">
            <a:avLst/>
          </a:prstGeom>
          <a:solidFill>
            <a:srgbClr val="EFF6FF"/>
          </a:solidFill>
          <a:ln w="9525">
            <a:solidFill>
              <a:srgbClr val="E2ECF0"/>
            </a:solidFill>
            <a:prstDash val="solid"/>
          </a:ln>
        </p:spPr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56B6F740-6862-45D5-8E0D-8151D0B66AD9}"/>
              </a:ext>
            </a:extLst>
          </p:cNvPr>
          <p:cNvSpPr>
            <a:spLocks noGrp="1"/>
          </p:cNvSpPr>
          <p:nvPr/>
        </p:nvSpPr>
        <p:spPr>
          <a:xfrm>
            <a:off x="914400" y="1600200"/>
            <a:ext cx="4933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Acceso inicial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5FB0CAA-8B3F-4D68-B7AA-18FF550BBCEB}"/>
              </a:ext>
            </a:extLst>
          </p:cNvPr>
          <p:cNvSpPr>
            <a:spLocks noGrp="1"/>
          </p:cNvSpPr>
          <p:nvPr/>
        </p:nvSpPr>
        <p:spPr>
          <a:xfrm>
            <a:off x="914400" y="1866900"/>
            <a:ext cx="4933950" cy="1428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La app solicita password en el primer inicio.</a:t>
            </a:r>
          </a:p>
          <a:p>
            <a:pPr algn="l">
              <a:defRPr sz="96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Luego queda autorizada en el dispositivo.</a:t>
            </a:r>
          </a:p>
          <a:p>
            <a:pPr algn="l">
              <a:defRPr sz="96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Bloqueo por intentos fallidos (persistente).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E81302CF-EAD7-41D0-B4C8-AE3CD01AB9CF}"/>
              </a:ext>
            </a:extLst>
          </p:cNvPr>
          <p:cNvSpPr>
            <a:spLocks noGrp="1"/>
          </p:cNvSpPr>
          <p:nvPr/>
        </p:nvSpPr>
        <p:spPr>
          <a:xfrm>
            <a:off x="6172200" y="1428750"/>
            <a:ext cx="5715000" cy="20002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CF0"/>
            </a:solidFill>
            <a:prstDash val="solid"/>
          </a:ln>
        </p:spPr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0A2C516F-1D95-4B8B-ABE1-A7967EA491CC}"/>
              </a:ext>
            </a:extLst>
          </p:cNvPr>
          <p:cNvSpPr>
            <a:spLocks noGrp="1"/>
          </p:cNvSpPr>
          <p:nvPr/>
        </p:nvSpPr>
        <p:spPr>
          <a:xfrm>
            <a:off x="6343650" y="1600200"/>
            <a:ext cx="342900" cy="342900"/>
          </a:xfrm>
          <a:prstGeom prst="rect">
            <a:avLst/>
          </a:prstGeom>
          <a:solidFill>
            <a:srgbClr val="EFF6FF"/>
          </a:solidFill>
          <a:ln w="9525">
            <a:solidFill>
              <a:srgbClr val="E2ECF0"/>
            </a:solidFill>
            <a:prstDash val="solid"/>
          </a:ln>
        </p:spPr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DFCC73EC-5E12-4F3E-8765-8F5C09662933}"/>
              </a:ext>
            </a:extLst>
          </p:cNvPr>
          <p:cNvSpPr>
            <a:spLocks noGrp="1"/>
          </p:cNvSpPr>
          <p:nvPr/>
        </p:nvSpPr>
        <p:spPr>
          <a:xfrm>
            <a:off x="6781800" y="1600200"/>
            <a:ext cx="4933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Sin conexion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D61E69B0-23ED-48FD-8CA4-BF874B97ED7E}"/>
              </a:ext>
            </a:extLst>
          </p:cNvPr>
          <p:cNvSpPr>
            <a:spLocks noGrp="1"/>
          </p:cNvSpPr>
          <p:nvPr/>
        </p:nvSpPr>
        <p:spPr>
          <a:xfrm>
            <a:off x="6781800" y="1866900"/>
            <a:ext cx="4933950" cy="1428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Contenido local: procedimientos, criterios, glosario y ejercicios.</a:t>
            </a:r>
          </a:p>
          <a:p>
            <a:pPr algn="l">
              <a:defRPr sz="96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Calculadoras disponibles offline.</a:t>
            </a:r>
          </a:p>
          <a:p>
            <a:pPr algn="l">
              <a:defRPr sz="96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Ideal para faenas con conectividad limitada.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C61DA188-1B66-4DB0-8BA5-2BB72AA9CEA0}"/>
              </a:ext>
            </a:extLst>
          </p:cNvPr>
          <p:cNvSpPr>
            <a:spLocks noGrp="1"/>
          </p:cNvSpPr>
          <p:nvPr/>
        </p:nvSpPr>
        <p:spPr>
          <a:xfrm>
            <a:off x="304800" y="3752850"/>
            <a:ext cx="11582400" cy="2438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CF0"/>
            </a:solidFill>
            <a:prstDash val="solid"/>
          </a:ln>
        </p:spPr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038589CE-3FE5-4938-8B55-7A8E51B7C534}"/>
              </a:ext>
            </a:extLst>
          </p:cNvPr>
          <p:cNvSpPr>
            <a:spLocks noGrp="1"/>
          </p:cNvSpPr>
          <p:nvPr/>
        </p:nvSpPr>
        <p:spPr>
          <a:xfrm>
            <a:off x="495300" y="3943350"/>
            <a:ext cx="11049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Opciones de endurecimiento (propuesta)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CF91A912-B30F-4C84-BFDD-0775537142F1}"/>
              </a:ext>
            </a:extLst>
          </p:cNvPr>
          <p:cNvSpPr>
            <a:spLocks noGrp="1"/>
          </p:cNvSpPr>
          <p:nvPr/>
        </p:nvSpPr>
        <p:spPr>
          <a:xfrm>
            <a:off x="495300" y="4343400"/>
            <a:ext cx="5524500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CF0"/>
            </a:solidFill>
            <a:prstDash val="solid"/>
          </a:ln>
        </p:spPr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F0DC4CEF-8C9B-4096-BD85-4083A040ECB4}"/>
              </a:ext>
            </a:extLst>
          </p:cNvPr>
          <p:cNvSpPr>
            <a:spLocks noGrp="1"/>
          </p:cNvSpPr>
          <p:nvPr/>
        </p:nvSpPr>
        <p:spPr>
          <a:xfrm>
            <a:off x="666750" y="4514850"/>
            <a:ext cx="342900" cy="342900"/>
          </a:xfrm>
          <a:prstGeom prst="rect">
            <a:avLst/>
          </a:prstGeom>
          <a:solidFill>
            <a:srgbClr val="EFF6FF"/>
          </a:solidFill>
          <a:ln w="9525">
            <a:solidFill>
              <a:srgbClr val="E2ECF0"/>
            </a:solidFill>
            <a:prstDash val="solid"/>
          </a:ln>
        </p:spPr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EA359A48-AF6E-4E14-8EA1-F33817589C73}"/>
              </a:ext>
            </a:extLst>
          </p:cNvPr>
          <p:cNvSpPr>
            <a:spLocks noGrp="1"/>
          </p:cNvSpPr>
          <p:nvPr/>
        </p:nvSpPr>
        <p:spPr>
          <a:xfrm>
            <a:off x="1104900" y="4514850"/>
            <a:ext cx="47434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MDM / distribucion interna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14CBA95C-A9A0-40C7-9D9E-FF6F2C54354B}"/>
              </a:ext>
            </a:extLst>
          </p:cNvPr>
          <p:cNvSpPr>
            <a:spLocks noGrp="1"/>
          </p:cNvSpPr>
          <p:nvPr/>
        </p:nvSpPr>
        <p:spPr>
          <a:xfrm>
            <a:off x="1104900" y="4781550"/>
            <a:ext cx="47434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Control de instalacion y versionado.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84E8AB03-42F6-4D0D-B019-73BCD8ECECE9}"/>
              </a:ext>
            </a:extLst>
          </p:cNvPr>
          <p:cNvSpPr>
            <a:spLocks noGrp="1"/>
          </p:cNvSpPr>
          <p:nvPr/>
        </p:nvSpPr>
        <p:spPr>
          <a:xfrm>
            <a:off x="6172200" y="4343400"/>
            <a:ext cx="5524500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CF0"/>
            </a:solidFill>
            <a:prstDash val="solid"/>
          </a:ln>
        </p:spPr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633CCAC3-6CBB-4171-AEE2-980300E7C4F8}"/>
              </a:ext>
            </a:extLst>
          </p:cNvPr>
          <p:cNvSpPr>
            <a:spLocks noGrp="1"/>
          </p:cNvSpPr>
          <p:nvPr/>
        </p:nvSpPr>
        <p:spPr>
          <a:xfrm>
            <a:off x="6343650" y="4514850"/>
            <a:ext cx="342900" cy="342900"/>
          </a:xfrm>
          <a:prstGeom prst="rect">
            <a:avLst/>
          </a:prstGeom>
          <a:solidFill>
            <a:srgbClr val="EFF6FF"/>
          </a:solidFill>
          <a:ln w="9525">
            <a:solidFill>
              <a:srgbClr val="E2ECF0"/>
            </a:solidFill>
            <a:prstDash val="solid"/>
          </a:ln>
        </p:spPr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6610EF38-34C3-4099-B931-7F6BBB356781}"/>
              </a:ext>
            </a:extLst>
          </p:cNvPr>
          <p:cNvSpPr>
            <a:spLocks noGrp="1"/>
          </p:cNvSpPr>
          <p:nvPr/>
        </p:nvSpPr>
        <p:spPr>
          <a:xfrm>
            <a:off x="6781800" y="4514850"/>
            <a:ext cx="47434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Analiticas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F9208226-563E-4C95-9256-14D934526AD8}"/>
              </a:ext>
            </a:extLst>
          </p:cNvPr>
          <p:cNvSpPr>
            <a:spLocks noGrp="1"/>
          </p:cNvSpPr>
          <p:nvPr/>
        </p:nvSpPr>
        <p:spPr>
          <a:xfrm>
            <a:off x="6781800" y="4781550"/>
            <a:ext cx="47434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Uso por modulo, puntos de confusion, mejora continua.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5A554915-EA21-44A1-9F8D-34091481DC23}"/>
              </a:ext>
            </a:extLst>
          </p:cNvPr>
          <p:cNvSpPr>
            <a:spLocks noGrp="1"/>
          </p:cNvSpPr>
          <p:nvPr/>
        </p:nvSpPr>
        <p:spPr>
          <a:xfrm>
            <a:off x="495300" y="5276850"/>
            <a:ext cx="5524500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CF0"/>
            </a:solidFill>
            <a:prstDash val="solid"/>
          </a:ln>
        </p:spPr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0828B3EF-474C-40F1-86B4-E8B0B82A08AE}"/>
              </a:ext>
            </a:extLst>
          </p:cNvPr>
          <p:cNvSpPr>
            <a:spLocks noGrp="1"/>
          </p:cNvSpPr>
          <p:nvPr/>
        </p:nvSpPr>
        <p:spPr>
          <a:xfrm>
            <a:off x="666750" y="5448300"/>
            <a:ext cx="342900" cy="342900"/>
          </a:xfrm>
          <a:prstGeom prst="rect">
            <a:avLst/>
          </a:prstGeom>
          <a:solidFill>
            <a:srgbClr val="EFF6FF"/>
          </a:solidFill>
          <a:ln w="9525">
            <a:solidFill>
              <a:srgbClr val="E2ECF0"/>
            </a:solidFill>
            <a:prstDash val="solid"/>
          </a:ln>
        </p:spPr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A8D04738-59CB-41DD-8376-943877984C71}"/>
              </a:ext>
            </a:extLst>
          </p:cNvPr>
          <p:cNvSpPr>
            <a:spLocks noGrp="1"/>
          </p:cNvSpPr>
          <p:nvPr/>
        </p:nvSpPr>
        <p:spPr>
          <a:xfrm>
            <a:off x="1104900" y="5448300"/>
            <a:ext cx="47434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Cifrado / llaves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590301D8-C192-43A9-B5CC-13AAB3751144}"/>
              </a:ext>
            </a:extLst>
          </p:cNvPr>
          <p:cNvSpPr>
            <a:spLocks noGrp="1"/>
          </p:cNvSpPr>
          <p:nvPr/>
        </p:nvSpPr>
        <p:spPr>
          <a:xfrm>
            <a:off x="1104900" y="5715000"/>
            <a:ext cx="47434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Proteccion extra para contenido sensible.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38247EED-6CD6-4DA3-8EED-33331C9FEABE}"/>
              </a:ext>
            </a:extLst>
          </p:cNvPr>
          <p:cNvSpPr>
            <a:spLocks noGrp="1"/>
          </p:cNvSpPr>
          <p:nvPr/>
        </p:nvSpPr>
        <p:spPr>
          <a:xfrm>
            <a:off x="6172200" y="5276850"/>
            <a:ext cx="5524500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CF0"/>
            </a:solidFill>
            <a:prstDash val="solid"/>
          </a:ln>
        </p:spPr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0EA3A3CC-86DF-4C7E-BAB9-5A1135942CDE}"/>
              </a:ext>
            </a:extLst>
          </p:cNvPr>
          <p:cNvSpPr>
            <a:spLocks noGrp="1"/>
          </p:cNvSpPr>
          <p:nvPr/>
        </p:nvSpPr>
        <p:spPr>
          <a:xfrm>
            <a:off x="6343650" y="5448300"/>
            <a:ext cx="342900" cy="342900"/>
          </a:xfrm>
          <a:prstGeom prst="rect">
            <a:avLst/>
          </a:prstGeom>
          <a:solidFill>
            <a:srgbClr val="EFF6FF"/>
          </a:solidFill>
          <a:ln w="9525">
            <a:solidFill>
              <a:srgbClr val="E2ECF0"/>
            </a:solidFill>
            <a:prstDash val="solid"/>
          </a:ln>
        </p:spPr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DC3B8568-740C-42BA-A8AC-0D1A5B779886}"/>
              </a:ext>
            </a:extLst>
          </p:cNvPr>
          <p:cNvSpPr>
            <a:spLocks noGrp="1"/>
          </p:cNvSpPr>
          <p:nvPr/>
        </p:nvSpPr>
        <p:spPr>
          <a:xfrm>
            <a:off x="6781800" y="5448300"/>
            <a:ext cx="47434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Modo supervisor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67CA158C-5270-4119-B7CC-0B84DD8B7369}"/>
              </a:ext>
            </a:extLst>
          </p:cNvPr>
          <p:cNvSpPr>
            <a:spLocks noGrp="1"/>
          </p:cNvSpPr>
          <p:nvPr/>
        </p:nvSpPr>
        <p:spPr>
          <a:xfrm>
            <a:off x="6781800" y="5715000"/>
            <a:ext cx="47434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Acceso a panel de administracion (opcional).</a:t>
            </a: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7A86B0D6-A2AB-447F-AB95-D50F1F250206}"/>
              </a:ext>
            </a:extLst>
          </p:cNvPr>
          <p:cNvSpPr>
            <a:spLocks noGrp="1"/>
          </p:cNvSpPr>
          <p:nvPr/>
        </p:nvSpPr>
        <p:spPr>
          <a:xfrm>
            <a:off x="190500" y="6438900"/>
            <a:ext cx="11811000" cy="9525"/>
          </a:xfrm>
          <a:prstGeom prst="rect">
            <a:avLst/>
          </a:prstGeom>
          <a:solidFill>
            <a:srgbClr val="E2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F5058245-F86E-490E-8C33-38401B7FC05B}"/>
              </a:ext>
            </a:extLst>
          </p:cNvPr>
          <p:cNvSpPr>
            <a:spLocks noGrp="1"/>
          </p:cNvSpPr>
          <p:nvPr/>
        </p:nvSpPr>
        <p:spPr>
          <a:xfrm>
            <a:off x="304800" y="6515100"/>
            <a:ext cx="495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Aprender a Controlar • Sondajes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CAC54838-F4AD-4FCF-BD47-C1C0BE79FF49}"/>
              </a:ext>
            </a:extLst>
          </p:cNvPr>
          <p:cNvSpPr>
            <a:spLocks noGrp="1"/>
          </p:cNvSpPr>
          <p:nvPr/>
        </p:nvSpPr>
        <p:spPr>
          <a:xfrm>
            <a:off x="9144000" y="6515100"/>
            <a:ext cx="2743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63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Seguridad</a:t>
            </a:r>
          </a:p>
        </p:txBody>
      </p:sp>
      <p:pic>
        <p:nvPicPr>
          <p:cNvPr id="34" name="Gráfico 3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533400" y="1657350"/>
            <a:ext cx="228600" cy="228600"/>
          </a:xfrm>
          <a:prstGeom prst="rect">
            <a:avLst/>
          </a:prstGeom>
        </p:spPr>
      </p:pic>
      <p:pic>
        <p:nvPicPr>
          <p:cNvPr id="35" name="Gráfico 3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6400800" y="1657350"/>
            <a:ext cx="228600" cy="228600"/>
          </a:xfrm>
          <a:prstGeom prst="rect">
            <a:avLst/>
          </a:prstGeom>
        </p:spPr>
      </p:pic>
      <p:pic>
        <p:nvPicPr>
          <p:cNvPr id="36" name="Gráfico 3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723900" y="4572000"/>
            <a:ext cx="228600" cy="228600"/>
          </a:xfrm>
          <a:prstGeom prst="rect">
            <a:avLst/>
          </a:prstGeom>
        </p:spPr>
      </p:pic>
      <p:pic>
        <p:nvPicPr>
          <p:cNvPr id="37" name="Gráfico 3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6400800" y="4572000"/>
            <a:ext cx="228600" cy="228600"/>
          </a:xfrm>
          <a:prstGeom prst="rect">
            <a:avLst/>
          </a:prstGeom>
        </p:spPr>
      </p:pic>
      <p:pic>
        <p:nvPicPr>
          <p:cNvPr id="38" name="Gráfico 3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723900" y="5505450"/>
            <a:ext cx="228600" cy="228600"/>
          </a:xfrm>
          <a:prstGeom prst="rect">
            <a:avLst/>
          </a:prstGeom>
        </p:spPr>
      </p:pic>
      <p:pic>
        <p:nvPicPr>
          <p:cNvPr id="39" name="Gráfico 3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6400800" y="5505450"/>
            <a:ext cx="228600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51551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934</Words>
  <Application>Microsoft Macintosh PowerPoint</Application>
  <DocSecurity>0</DocSecurity>
  <PresentationFormat>Panorámica</PresentationFormat>
  <Paragraphs>173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Calibri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Claudio Francisco Muñoz Rubilar</cp:lastModifiedBy>
  <cp:revision>1</cp:revision>
  <dcterms:created xsi:type="dcterms:W3CDTF">2026-05-29T18:01:21Z</dcterms:created>
  <dcterms:modified xsi:type="dcterms:W3CDTF">2026-05-29T18:03:40Z</dcterms:modified>
</cp:coreProperties>
</file>